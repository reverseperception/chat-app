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86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17"/>
    <p:restoredTop sz="36739"/>
  </p:normalViewPr>
  <p:slideViewPr>
    <p:cSldViewPr snapToGrid="0" snapToObjects="1">
      <p:cViewPr varScale="1">
        <p:scale>
          <a:sx n="52" d="100"/>
          <a:sy n="52" d="100"/>
        </p:scale>
        <p:origin x="3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229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"Dzień dobry Państwu. Chcielibyśmy zaprezentować projekt realizowany w ramach przedmiotu </a:t>
            </a:r>
            <a:r>
              <a:rPr lang="pl-PL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Systemy Rozproszone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Naszym zadaniem było zaprojektowanie podstaw </a:t>
            </a:r>
            <a:r>
              <a:rPr lang="pl-PL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aplikacji webowej pełniącej funkcję komunikatora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Głównym założeniem architektury jest to, że jest to system w pełni rozproszony, przetwarzający i przekazujący dane w czasie rzeczywistym.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Prezentacja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podzielona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pięć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głównych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części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Pierwsza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Analiza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Biznesowa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omówimy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użytkowników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skalę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wymagania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Część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druga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Architektura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skupimy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komponentach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komunikacji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przepływie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Trzecia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część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dotyczy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Analizy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Rozproszenia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rozproszenia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obsługi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awarii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skalowania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twierdzenia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CAP.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Czwarta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część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Infrastruktura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chmura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kontenery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monitoring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backup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disaster recovery.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Ostatnia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piąta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część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Podsumowanie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kluczowymi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cechami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wnioskami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Współczesne zespoły (zarówno z sektora prywatnego, edukacyjnego jak i biznesowego) wymagają narzędzi umożliwiających szybką, skalowalną, niezawodną i bezpieczną komunikację w czasie rzeczywistym. Istniejące rozwiązania komercyjne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Slack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Microsoft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Discord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są albo zbyt kosztowne dla małych organizacji, albo narzucają ograniczenia w zakresie kontroli danych i prywatności.</a:t>
            </a:r>
          </a:p>
          <a:p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Proponowany system – Komunikator webowy –który jest platformą komunikacyjną działającą w przeglądarce internetowej, umożliwiającą wymianę wiadomości tekstowych, plików oraz prowadzenie rozmów grupowych w kanałach tematycznych. System jest zaprojektowany z myślą o tych, którzy wymagają zapewnienia wysokiej niezawodności, komunikacji w czasie rzeczywistym pełnej kontroli nad danymi oraz możliwością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-hostingu.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 skierowany jest do dwóch głównych grup użytkowników.</a:t>
            </a:r>
          </a:p>
          <a:p>
            <a:endParaRPr lang="pl-P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Pierwsza to sektor biznesowy i korporacyjny – obejmuje małe i średnie przedsiębiorstwa oraz duże firmy zatrudniające od 10 do 5000 pracowników</a:t>
            </a:r>
          </a:p>
          <a:p>
            <a:pPr lvl="0"/>
            <a:endParaRPr lang="pl-P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służy jako centralny hub informacyjny (Intranet 2.0). Pozwala na eliminację szumu informacyjnego generowanego przez e-maile.</a:t>
            </a:r>
          </a:p>
          <a:p>
            <a:pPr lv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Zespoły Projektowe i Cross-funkcyjne: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Użytkownicy potrzebujący dedykowanych kanałów tematycznych, gdzie wymiana plików i historia ustaleń są uporządkowane i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przeszukiwalne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Pracownicy Zdalni i Hybrydowi: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Osoby wymagające stałego dostępu do zasobów firmy i kontaktu z zespołem niezależnie od miejsca pobytu.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Sektor Specjalistyczny i Publiczny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oferuje bezpieczne kanały komunikacji dla branż o wysokim rygorze przetwarzania danych.</a:t>
            </a:r>
          </a:p>
          <a:p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Druga grupa to sektor specjalistyczny i publiczny</a:t>
            </a:r>
          </a:p>
          <a:p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Placówki Medyczne (Szpitale, Kliniki):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Personel medyczny i administracyjny wykorzystujący system do szybkiej koordynacji dyżurów, zarządzania zasobami czy wewnętrznej komunikacji międzyoddziałowej (z zachowaniem poufności).</a:t>
            </a:r>
          </a:p>
          <a:p>
            <a:pPr lv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Organizacje Pozarządowe (NGO) i Społeczności: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Grupy charytatywne i stowarzyszenia, dla których system jest narzędziem do mobilizacji wolontariuszy oraz transparentnego zarządzania projektami społecznymi.</a:t>
            </a:r>
          </a:p>
          <a:p>
            <a:pPr lv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Administratorzy systemu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osoby zarządzające kontami, kanałami i uprawnieniami</a:t>
            </a:r>
          </a:p>
          <a:p>
            <a:pPr lv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Użytkownicy mobilni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osoby korzystające z systemu przez przeglądarkę na urządzeniach mobilnych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Określamy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następujące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założenia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dotyczące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Liczba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jednoczesnych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użytkowników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80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tysięcy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Łączna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liczba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zarejestrowanych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300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tysięcy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System ma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obsługiwać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1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dziennie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Planujemy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200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tysięcy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kanałów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pokoi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czatu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Maksymalny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rozmiar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przesyłanego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pliku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wynosi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500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megabajtów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retencji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3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Łączna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ilość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przechowywanych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100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terabajtów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Pierwszym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wymaganiem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funkcjonalnym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rejestracja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uwierzytelnianie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użytkowników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System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obsługuje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rejestrację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weryfikacją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adresu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e-mail – link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aktywacyjny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ważny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24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godziny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Logowanie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odbywa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hasłem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OAuth 2.0 –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obsługujemy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Google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GitHub.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Hasła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przechowywane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zahashowanej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postaci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polityka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bezpieczeństwa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egzekwowana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Dostępne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dwuskładnikowe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uwierzytelnianie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oparte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TOTP 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kodami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zapasowymi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Reset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hasła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odbywa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jednorazowy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link 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ograniczonym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czasem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ważności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System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wykrywa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podejrzane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logowania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urządzeń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lokalizacji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Drugie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wymaganie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funkcjonalne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dotyczy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przesyłania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czasie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rzeczywistym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Opóźnienie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dostarczenia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obrębie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strefy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geograficznej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wynosi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mniej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100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milisekund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System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gwarantuje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zachowanie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kolejności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wątku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ponownym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połączeniu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synchronizowane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brakujące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kolejki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offline.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otrzymują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potwierdzenia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dostarczenia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odczytu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Możliwa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edycja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usuwanie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zachowaniem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zmian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Zaimplementowany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mechanizm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ponownego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wysyłania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błędach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sieciowych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Trzecie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wymaganie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dotyczy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kanałów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prywatnych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System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umożliwia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tworzenie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kanałów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publicznych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prywatnych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zarządzaniem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rolami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Kanały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mogą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mieć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 10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tysięcy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użytkowników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obsługują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wątki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Dostępne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prywatne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jednego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grupowe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 50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osób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mogą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opuszczać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wyciszać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przypinać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kanały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można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oznaczać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ważne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Dostępne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wzmianki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jak @channel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@here, 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ograniczeniami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zależnymi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od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Czwarte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wymaganie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dotyczy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przesyłania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plików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Pliki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 500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megabajtów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walidowane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skanowane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antywirusowo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zapisaniem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obrazów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dostępny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podgląd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inline, a filmy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odtwarzane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strumieniowo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Storage 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zgodny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protokołem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S3 –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obsługujemy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AWS S3.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Dostęp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plików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odbywa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podpisane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czasem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ważności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od 5 do 60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System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miniatury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kompresuje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obrazy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każdej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organizacji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obowiązuje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limit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przestrzeni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dyskowej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polityka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retencji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plików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Piąte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wymaganie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dotyczy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powiadomień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push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obecności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otrzymują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powiadomienia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wiadomościach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wzmiankach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odpowiedziach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zaproszeniach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aktywnych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użytkowników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używany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 WebSocket, 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nieaktywnych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Web Push API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Firebase Cloud Messaging. System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eliminuje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duplikaty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powiadomień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aktywnie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przegląda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Powiadomienia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można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konfigurować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per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wyciszone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tylko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wzmianki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wszystkie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Dostępny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Nie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Przeszkadzać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harmonogramem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możliwością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nadpisania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krytycznych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Powiadomienia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zbiorcze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interwałem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5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statusy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obecności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aktualizowane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czasie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rzeczywistym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Szóste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wymaganie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dotyczy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wyszukiwania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Historia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ładuje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z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paginacją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lazy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loadingiem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czyli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ładowaniem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żądanie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Dostępne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pełnotekstowe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wyszukiwanie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załączników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użytkowników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odpowiedzi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wynosi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poniżej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2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sekund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zbioru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 100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milionów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wiadomości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Wyniki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można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filtrować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dacie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Obsługiwane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wyszukiwanie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wewnątrz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wątków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Polityka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retencji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konfigurowalna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administratora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Siódme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wymaganie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dotyczy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zarządzania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organizacją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uprawnieniami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Struktura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hierarchiczna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Organizacja,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następnie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Przestrzeń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robocza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końcu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Zarządzanie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dostępem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oparte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RBAC(),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czyli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dostępu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opartej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rolach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Możliwe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jest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tworzenie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ról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przypisywanie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uprawnień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ich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delegowanie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Administrator ma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dostęp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audytu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działań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użytkowników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administracyjnym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Dostępne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aktywności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statystyki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użycia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Można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konfigurować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polityki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retencji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danych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bezpieczeństwa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/>
              <a:t>WNF-01 – Dostępność (SLA)</a:t>
            </a:r>
            <a:br>
              <a:rPr lang="pl-PL" dirty="0"/>
            </a:br>
            <a:r>
              <a:rPr lang="pl-PL" dirty="0"/>
              <a:t>System powinien zapewniać wysoką dostępność usług na poziomie 99.9% miesięcznie. Oznacza to, że dopuszczalny czas niedostępności systemu nie powinien przekraczać około 8,7 godziny w ciągu roku. SLA (</a:t>
            </a:r>
            <a:r>
              <a:rPr lang="pl-PL" i="1" dirty="0"/>
              <a:t>Service Level Agreement</a:t>
            </a:r>
            <a:r>
              <a:rPr lang="pl-PL" dirty="0"/>
              <a:t>) określa gwarantowany poziom jakości i dostępności usługi.</a:t>
            </a:r>
          </a:p>
          <a:p>
            <a:r>
              <a:rPr lang="pl-PL" b="1" dirty="0"/>
              <a:t>WNF-02 – Wydajność (</a:t>
            </a:r>
            <a:r>
              <a:rPr lang="pl-PL" b="1" dirty="0" err="1"/>
              <a:t>Latency</a:t>
            </a:r>
            <a:r>
              <a:rPr lang="pl-PL" b="1" dirty="0"/>
              <a:t>)</a:t>
            </a:r>
            <a:br>
              <a:rPr lang="pl-PL" dirty="0"/>
            </a:br>
            <a:r>
              <a:rPr lang="pl-PL" dirty="0"/>
              <a:t>System musi działać szybko i zapewniać niski czas odpowiedzi. Dla 99% operacji czas odczytu danych powinien być krótszy niż 200 ms, a zapis danych krótszy niż 500 ms. Komunikacja </a:t>
            </a:r>
            <a:r>
              <a:rPr lang="pl-PL" dirty="0" err="1"/>
              <a:t>WebSocket</a:t>
            </a:r>
            <a:r>
              <a:rPr lang="pl-PL" dirty="0"/>
              <a:t> powinna odbywać się z opóźnieniem poniżej 100 ms. Parametr P99 oznacza, że podane wartości dotyczą 99% wszystkich żądań.</a:t>
            </a:r>
          </a:p>
          <a:p>
            <a:r>
              <a:rPr lang="pl-PL" b="1" dirty="0"/>
              <a:t>WNF-03 – Skalowalność</a:t>
            </a:r>
            <a:br>
              <a:rPr lang="pl-PL" dirty="0"/>
            </a:br>
            <a:r>
              <a:rPr lang="pl-PL" dirty="0"/>
              <a:t>Aplikacja powinna umożliwiać skalowanie poziome, czyli zwiększanie liczby serwerów wraz ze wzrostem liczby użytkowników. System ma obsługiwać do 50 tysięcy jednoczesnych połączeń </a:t>
            </a:r>
            <a:r>
              <a:rPr lang="pl-PL" dirty="0" err="1"/>
              <a:t>WebSocket</a:t>
            </a:r>
            <a:r>
              <a:rPr lang="pl-PL" dirty="0"/>
              <a:t> oraz automatycznie dostosowywać zasoby CPU i pamięci RAM dzięki mechanizmowi auto-</a:t>
            </a:r>
            <a:r>
              <a:rPr lang="pl-PL" dirty="0" err="1"/>
              <a:t>scalingu</a:t>
            </a:r>
            <a:r>
              <a:rPr lang="pl-PL" dirty="0"/>
              <a:t>.</a:t>
            </a:r>
          </a:p>
          <a:p>
            <a:r>
              <a:rPr lang="pl-PL" b="1" dirty="0"/>
              <a:t>WNF-04 – Bezpieczeństwo</a:t>
            </a:r>
            <a:br>
              <a:rPr lang="pl-PL" dirty="0"/>
            </a:br>
            <a:r>
              <a:rPr lang="pl-PL" dirty="0"/>
              <a:t>System powinien zapewniać wysoki poziom bezpieczeństwa danych i komunikacji. TLS 1.3 odpowiada za szyfrowanie transmisji danych, natomiast AES-256 za szyfrowanie danych przechowywanych w systemie. Dodatkowo aplikacja powinna być zgodna z wytycznymi OWASP Top 10 dotyczącymi najczęstszych zagrożeń bezpieczeństwa oraz posiadać mechanizmy audytu dostępu użytkowników.</a:t>
            </a:r>
          </a:p>
          <a:p>
            <a:r>
              <a:rPr lang="pl-PL" b="1" dirty="0"/>
              <a:t>WNF-05 – Spójność danych</a:t>
            </a:r>
            <a:br>
              <a:rPr lang="pl-PL" dirty="0"/>
            </a:br>
            <a:r>
              <a:rPr lang="pl-PL" dirty="0"/>
              <a:t>System powinien zapewniać odpowiedni poziom spójności danych w zależności od rodzaju operacji. Dla statusów użytkowników dopuszczalna jest </a:t>
            </a:r>
            <a:r>
              <a:rPr lang="pl-PL" i="1" dirty="0" err="1"/>
              <a:t>eventual</a:t>
            </a:r>
            <a:r>
              <a:rPr lang="pl-PL" i="1" dirty="0"/>
              <a:t> </a:t>
            </a:r>
            <a:r>
              <a:rPr lang="pl-PL" i="1" dirty="0" err="1"/>
              <a:t>consistency</a:t>
            </a:r>
            <a:r>
              <a:rPr lang="pl-PL" dirty="0"/>
              <a:t>, czyli synchronizacja danych z niewielkim opóźnieniem. Natomiast wiadomości muszą być objęte </a:t>
            </a:r>
            <a:r>
              <a:rPr lang="pl-PL" i="1" dirty="0" err="1"/>
              <a:t>strong</a:t>
            </a:r>
            <a:r>
              <a:rPr lang="pl-PL" i="1" dirty="0"/>
              <a:t> </a:t>
            </a:r>
            <a:r>
              <a:rPr lang="pl-PL" i="1" dirty="0" err="1"/>
              <a:t>consistency</a:t>
            </a:r>
            <a:r>
              <a:rPr lang="pl-PL" dirty="0"/>
              <a:t>, co oznacza natychmiastową i pełną zgodność danych we wszystkich komponentach systemu.</a:t>
            </a:r>
          </a:p>
          <a:p>
            <a:r>
              <a:rPr lang="pl-PL" b="1" dirty="0"/>
              <a:t>WNF-06 – Obsługa awarii</a:t>
            </a:r>
            <a:br>
              <a:rPr lang="pl-PL" dirty="0"/>
            </a:br>
            <a:r>
              <a:rPr lang="pl-PL" dirty="0"/>
              <a:t>System powinien być odporny na awarie i umożliwiać szybkie przywrócenie działania. RTO (</a:t>
            </a:r>
            <a:r>
              <a:rPr lang="pl-PL" i="1" dirty="0" err="1"/>
              <a:t>Recovery</a:t>
            </a:r>
            <a:r>
              <a:rPr lang="pl-PL" i="1" dirty="0"/>
              <a:t> Time </a:t>
            </a:r>
            <a:r>
              <a:rPr lang="pl-PL" i="1" dirty="0" err="1"/>
              <a:t>Objective</a:t>
            </a:r>
            <a:r>
              <a:rPr lang="pl-PL" dirty="0"/>
              <a:t>) poniżej 1 minuty oznacza maksymalny czas potrzebny na odzyskanie sprawności systemu, natomiast RPO (</a:t>
            </a:r>
            <a:r>
              <a:rPr lang="pl-PL" i="1" dirty="0" err="1"/>
              <a:t>Recovery</a:t>
            </a:r>
            <a:r>
              <a:rPr lang="pl-PL" i="1" dirty="0"/>
              <a:t> Point </a:t>
            </a:r>
            <a:r>
              <a:rPr lang="pl-PL" i="1" dirty="0" err="1"/>
              <a:t>Objective</a:t>
            </a:r>
            <a:r>
              <a:rPr lang="pl-PL" dirty="0"/>
              <a:t>) poniżej 5 minut określa maksymalną dopuszczalną utratę danych. Dodatkowo zastosowanie wzorca </a:t>
            </a:r>
            <a:r>
              <a:rPr lang="pl-PL" i="1" dirty="0" err="1"/>
              <a:t>circuit</a:t>
            </a:r>
            <a:r>
              <a:rPr lang="pl-PL" i="1" dirty="0"/>
              <a:t> </a:t>
            </a:r>
            <a:r>
              <a:rPr lang="pl-PL" i="1" dirty="0" err="1"/>
              <a:t>breaker</a:t>
            </a:r>
            <a:r>
              <a:rPr lang="pl-PL" dirty="0"/>
              <a:t> ma chronić system przed przeciążeniem podczas awarii usług.</a:t>
            </a:r>
          </a:p>
          <a:p>
            <a:r>
              <a:rPr lang="pl-PL" b="1" dirty="0"/>
              <a:t>WNF-07 – Obserwowalność</a:t>
            </a:r>
            <a:br>
              <a:rPr lang="pl-PL" dirty="0"/>
            </a:br>
            <a:r>
              <a:rPr lang="pl-PL" dirty="0"/>
              <a:t>System powinien umożliwiać skuteczne monitorowanie działania oraz analizę błędów. Wymagane jest centralne gromadzenie logów (</a:t>
            </a:r>
            <a:r>
              <a:rPr lang="pl-PL" i="1" dirty="0" err="1"/>
              <a:t>centralized</a:t>
            </a:r>
            <a:r>
              <a:rPr lang="pl-PL" i="1" dirty="0"/>
              <a:t> </a:t>
            </a:r>
            <a:r>
              <a:rPr lang="pl-PL" i="1" dirty="0" err="1"/>
              <a:t>logging</a:t>
            </a:r>
            <a:r>
              <a:rPr lang="pl-PL" dirty="0"/>
              <a:t>), śledzenie przepływu żądań między usługami (</a:t>
            </a:r>
            <a:r>
              <a:rPr lang="pl-PL" i="1" dirty="0" err="1"/>
              <a:t>distributed</a:t>
            </a:r>
            <a:r>
              <a:rPr lang="pl-PL" i="1" dirty="0"/>
              <a:t> </a:t>
            </a:r>
            <a:r>
              <a:rPr lang="pl-PL" i="1" dirty="0" err="1"/>
              <a:t>tracing</a:t>
            </a:r>
            <a:r>
              <a:rPr lang="pl-PL" dirty="0"/>
              <a:t>) oraz wykorzystanie narzędzi takich jak </a:t>
            </a:r>
            <a:r>
              <a:rPr lang="pl-PL" dirty="0" err="1"/>
              <a:t>OpenTelemetry</a:t>
            </a:r>
            <a:r>
              <a:rPr lang="pl-PL" dirty="0"/>
              <a:t> i </a:t>
            </a:r>
            <a:r>
              <a:rPr lang="pl-PL" dirty="0" err="1"/>
              <a:t>Prometheus</a:t>
            </a:r>
            <a:r>
              <a:rPr lang="pl-PL" dirty="0"/>
              <a:t> do monitorowania wydajności i stanu systemu.</a:t>
            </a:r>
          </a:p>
          <a:p>
            <a:r>
              <a:rPr lang="pl-PL" b="1" dirty="0"/>
              <a:t>WNF-08 – Zgodność z RODO</a:t>
            </a:r>
            <a:br>
              <a:rPr lang="pl-PL" dirty="0"/>
            </a:br>
            <a:r>
              <a:rPr lang="pl-PL" dirty="0"/>
              <a:t>Aplikacja musi spełniać wymagania RODO dotyczące ochrony danych osobowych. Użytkownik powinien mieć możliwość usunięcia swoich danych oraz ich eksportu. Dodatkowo logi systemowe muszą być przechowywane zgodnie z polityką retencji danych określoną przez przepisy RODO.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 uporządkowany opis wszystkich komponentów systemu przedstawionych na schemacie architektury (od góry do dołu), wraz z ich krótkim wyjaśnieniem, po co zostały tam umieszczone: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WARSTWA KLIENTÓW (Client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aplikacje i usługi, z których bezpośrednio korzystają użytkownicy końcowi lub systemy zewnętrzne.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Przeglądarkka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SPA / PWA):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Główna aplikacja internetowa dla użytkowników na komputerach, działająca płynnie bez przeładowywania stron.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 (PWA):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Wersja aplikacji dostosowana do telefonów komórkowych, działająca w przeglądarce mobilnej.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Klienci API: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Boty i zewnętrzne systemy, które komunikują się z naszą aplikacją za pomocą kodu (integracje).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CDN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CloudFront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Sieć serwerów na całym świecie, która błyskawicznie dostarcza użytkownikom pliki statyczne (zdjęcia, styl CSS, pliki JavaScript).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WARSTWA EDGE (Edge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Pierwsza linia obrony i punkt wejścia do infrastruktury sieciowej. Odpowiada za bezpieczeństwo i kierowanie ruchem.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Balancer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(ALB):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Rozdzielacz ruchu. Dba o to, aby serwery nie były przeciążone, i utrzymuje stabilne połączenia (np. dla komunikacji na żywo –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Gateway (Kong):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"Cieć" i drogowskaz systemu. Sprawdza, czy użytkownik jest zalogowany (JWT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ogranicza zbyt szybkie wysyłanie zapytań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limit) i kieruje ruch do odpowiednich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mikroserwisów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Termination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Miejsce, w którym szyfrowane połączenie ze światem (SSL/TLS) jest bezpiecznie "rozpakowywane", by odciążyć wewnętrzne serwery.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 (Web Application Firewall):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Tarcza ochronna blokująca popularne ataki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hakerskie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złośliwy ruch sieciowy.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MIKROSERWISY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EKS)</a:t>
            </a:r>
          </a:p>
          <a:p>
            <a:pPr rtl="0"/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Mózg systemu podzielony na małe, wyspecjalizowane aplikacje żyjące w chmurze AWS.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Odpowiada za logowanie, bezpieczeństwo konta (2FA) i przydzielanie uprawnień.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Service: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Zarządza wiadomościami czatu – odpowiada za ich zapisywanie, dzielenie na strony (paginacja) i tworzenie kanałów rozmów.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Obsługuje komunikację na żywo. Odpowiada za to, by wiadomości pojawiały się natychmiast oraz pokazuje, kto jest aktualnie dostępny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Notification Service: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Wysyła powiadomienia (np. na telefon lub w przeglądarce), gdy użytkownik dostanie nową wiadomość.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 Service: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Obsługuje bezpieczne przesyłanie i pobieranie plików przy pomocy specjalnych, czasowych linków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pre-signed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URL).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Service: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Zarządza profilami użytkowników i ich podstawowymi ustawieniami.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Przeszukuje archiwum wiadomości. Nasłuchuje zmian dzięki kolejce Kafka.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Przetwarza w tle przesyłane zdjęcia (np. tworzy ich mniejsze miniaturki).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Istio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Mesh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Wewnętrzny koordynator. Szyfruje komunikację między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mikroserwisami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mTLS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 dba o to, by błąd jednego serwisu nie popsuł reszty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circuit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breaker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PRZETWARZANIE ASYNCHRONICZNE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Processing)</a:t>
            </a:r>
          </a:p>
          <a:p>
            <a:pPr rtl="0"/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Systemy pozwalające na przekazywanie zadań w tle, dzięki czemu aplikacja działa płynnie.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Apache Kafka Cluster: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Szybka i niezawodna centrala informacyjna. Gdy coś się wydarzy (np. wysłano wiadomość, wgrano plik), Kafka przekazuje tę informację do innych zainteresowanych serwisów w czasie rzeczywistym.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WARSTWA DANYCH (Data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Bazy danych i magazyny, w których trwale lub tymczasowo zapisywane są wszystkie informacje.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Główna, bezpieczna baza danych. Zapisuje najważniejsze rzeczy: wiadomości, kanały i uprawnienia użytkowników.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 Read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Replicas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Klon głównej bazy danych służący tylko do szybkiego odczytywania informacji, żeby nie przeciążać głównego serwera.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Cluster: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Bardzo szybka pamięć podręczna (cache). Przechowuje sesje użytkowników oraz tymczasowe informacje o tym, czy ktoś jest online.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Elasticsearch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Specjalistyczna baza danych stworzona wyłącznie do błyskawicznego przeszukiwania ogromnych ilości tekstu w wiadomościach.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S3: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Magazyn na duże pliki (zdjęcia, filmy, dokumenty przesłane przez użytkowników).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PgBouncer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"Menadżer kolejki" do bazy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Pilnuje, aby aplikacje efektywnie korzystały z dostępnych połączeń z bazą danych.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INFRASTRUKTURA I MONITOROWANIE</a:t>
            </a:r>
          </a:p>
          <a:p>
            <a:pPr rtl="0"/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Narzędzia dla programistów i administratorów do kontroli nad zdrowiem całego systemu.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Prometheus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Zbieranie statystyk (wykresy zużycia procesora, pamięci) i wysyłanie alertów, gdy coś działa niepoprawnie.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ELK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Centralne archiwum logów (zapisów tekstowych tego, co robi aplikacja) z wygodną wyszukiwarką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Kibana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Jaeger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Narzędzie do śledzenia drogi pojedynczego zapytania od użytkownika przez wszystkie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 celu wykrywania opóźnień.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PagerDuty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 alarmowy, który dzwoni lub wysyła SMS do technika na dyżurze, gdy system ulegnie poważnej awarii.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 Region (eu-west-1):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Zapasowe centrum dowodzenia w innym kraju. Jeśli główna serwerownia (eu-central-1) ulegnie katastrofie, system uruchomi się tam w mniej niż godzinę z minimalną stratą danych (RTO &lt; 1h / RPO &lt; 5min).</a:t>
            </a:r>
          </a:p>
          <a:p>
            <a:pPr rtl="0"/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</a:t>
            </a:r>
          </a:p>
          <a:p>
            <a:pPr rtl="0"/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 uproszczona wersja, idealna do notatek na „ściągawkę” podczas prezentacji. Krótkie zdania, same konkrety, bez technicznego żargonu.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Komunikacja Synchroniczna (Tu i teraz)</a:t>
            </a:r>
          </a:p>
          <a:p>
            <a:pPr rtl="0"/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Działa na zasadzie: pytanie $\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rightarrow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natychmiastowa odpowiedź. System czeka, aż operacja się skończy.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Klient a system: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Użytkownik klika w aplikacji $\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rightarrow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zapytanie natychmiast leci przez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Balancer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API Gateway do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mikroserwisów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Logowanie i uprawnienia: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Sprawdzanie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tokenów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haseł musi dziać się natychmiast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Zapis sesji i bazy: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Szybki zapis do głównej bazy danych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oraz pamięci podręcznej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Czat na żywo: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Stałe, otwarte połączenie z użytkownikiem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żeby wiadomości docierały bez opóźnień.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Komunikacja Asynchroniczna (W tle)</a:t>
            </a:r>
          </a:p>
          <a:p>
            <a:pPr rtl="0"/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Działa na zasadzie: „wrzuć zadanie do kolejki i rób swoje”. System nie czeka na koniec operacji.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Serce systemu – Apache Kafka: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wrzucają tam informację, że coś się wydarzyło, a inne serwisy odbierają to i przetwarzają w swoim tempie.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Generowanie miniaturek: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Użytkownik wrzuca zdjęcie i klika dalej, a system w tle (Media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powoli zmniejsza fotkę.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Wyszukiwarka: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Nowa wiadomość trafia do Kafki, a system wyszukiwania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Service) na spokojnie dodaje ją do indeksu.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Kopiowanie bazy: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Dane z głównej bazy danych kopiują się do baz pomocniczych (replik) w tle, żeby nie obciążać systemu.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Jakie dane są przesyłane? (Ściągawka)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Dane tekstowe i konta (Synchronicznie):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 Hasła,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logowania, profile użytkowników.</a:t>
            </a:r>
          </a:p>
          <a:p>
            <a:pPr lvl="1"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Treść wiadomości wpisywanych na czacie.</a:t>
            </a:r>
          </a:p>
          <a:p>
            <a:pPr lvl="1"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 "online/offline" użytkowników.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Wydarzenia / Eventy (Asynchronicznie przez Kafkę):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messages.created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informacja o nowej wiadomości (dla wyszukiwarki).</a:t>
            </a:r>
          </a:p>
          <a:p>
            <a:pPr lvl="1" rtl="0"/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files.uploaded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sygnał, że wgrano plik (żeby zrobić miniaturkę).</a:t>
            </a:r>
          </a:p>
          <a:p>
            <a:pPr lvl="1" rtl="0"/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presence.updated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zmiana statusu użytkownika.</a:t>
            </a:r>
          </a:p>
          <a:p>
            <a:pPr lvl="1" rtl="0"/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notifications.push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komenda: "wyślij powiadomienie na telefon".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Ciężkie pliki: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Zdjęcia i filmy przesyłane prosto do magazynu (S3), żeby nie blokować bazy danych.</a:t>
            </a:r>
          </a:p>
          <a:p>
            <a:pPr rtl="0"/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DCAC-F320-3B0E-D55D-F62B98A0F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F5C79-6C3D-4384-4846-BA0EFAA78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5B3F1-EB28-BC4E-2894-DC852E8E3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/>
              <a:t>Warstwa klientów</a:t>
            </a:r>
          </a:p>
          <a:p>
            <a:r>
              <a:rPr lang="pl-PL" dirty="0"/>
              <a:t>Warstwa klientów odpowiada za komunikację użytkowników z systemem.</a:t>
            </a:r>
            <a:br>
              <a:rPr lang="pl-PL" dirty="0"/>
            </a:br>
            <a:r>
              <a:rPr lang="pl-PL" b="1" dirty="0" err="1"/>
              <a:t>React</a:t>
            </a:r>
            <a:r>
              <a:rPr lang="pl-PL" b="1" dirty="0"/>
              <a:t> SPA</a:t>
            </a:r>
            <a:r>
              <a:rPr lang="pl-PL" dirty="0"/>
              <a:t> (</a:t>
            </a:r>
            <a:r>
              <a:rPr lang="pl-PL" i="1" dirty="0"/>
              <a:t>Single </a:t>
            </a:r>
            <a:r>
              <a:rPr lang="pl-PL" i="1" dirty="0" err="1"/>
              <a:t>Page</a:t>
            </a:r>
            <a:r>
              <a:rPr lang="pl-PL" i="1" dirty="0"/>
              <a:t> Application</a:t>
            </a:r>
            <a:r>
              <a:rPr lang="pl-PL" dirty="0"/>
              <a:t>) oznacza aplikację jednostronicową działającą w przeglądarce bez przeładowywania całej strony.</a:t>
            </a:r>
            <a:br>
              <a:rPr lang="pl-PL" dirty="0"/>
            </a:br>
            <a:r>
              <a:rPr lang="pl-PL" b="1" dirty="0"/>
              <a:t>PWA</a:t>
            </a:r>
            <a:r>
              <a:rPr lang="pl-PL" dirty="0"/>
              <a:t> (</a:t>
            </a:r>
            <a:r>
              <a:rPr lang="pl-PL" i="1" dirty="0"/>
              <a:t>Progressive Web Application</a:t>
            </a:r>
            <a:r>
              <a:rPr lang="pl-PL" dirty="0"/>
              <a:t>) to aplikacja webowa działająca podobnie do aplikacji mobilnej, umożliwiająca np. pracę offline i instalację na urządzeniu.</a:t>
            </a:r>
            <a:br>
              <a:rPr lang="pl-PL" dirty="0"/>
            </a:br>
            <a:r>
              <a:rPr lang="pl-PL" dirty="0"/>
              <a:t>Klienci API to zewnętrzne aplikacje, boty oraz integracje komunikujące się z </a:t>
            </a:r>
            <a:r>
              <a:rPr lang="pl-PL" dirty="0" err="1"/>
              <a:t>backendem</a:t>
            </a:r>
            <a:r>
              <a:rPr lang="pl-PL" dirty="0"/>
              <a:t> za pomocą interfejsów programistycznych API (</a:t>
            </a:r>
            <a:r>
              <a:rPr lang="pl-PL" i="1" dirty="0"/>
              <a:t>Application Programming Interface</a:t>
            </a:r>
            <a:r>
              <a:rPr lang="pl-PL" dirty="0"/>
              <a:t>).</a:t>
            </a:r>
          </a:p>
          <a:p>
            <a:r>
              <a:rPr lang="pl-PL" b="1" dirty="0"/>
              <a:t>Warstwa Edge</a:t>
            </a:r>
          </a:p>
          <a:p>
            <a:r>
              <a:rPr lang="pl-PL" dirty="0"/>
              <a:t>Warstwa Edge stanowi punkt wejścia do systemu i odpowiada za bezpieczeństwo oraz kierowanie ruchem sieciowym.</a:t>
            </a:r>
            <a:br>
              <a:rPr lang="pl-PL" dirty="0"/>
            </a:br>
            <a:r>
              <a:rPr lang="pl-PL" b="1" dirty="0"/>
              <a:t>CDN</a:t>
            </a:r>
            <a:r>
              <a:rPr lang="pl-PL" dirty="0"/>
              <a:t> (</a:t>
            </a:r>
            <a:r>
              <a:rPr lang="pl-PL" i="1" dirty="0"/>
              <a:t>Content Delivery Network</a:t>
            </a:r>
            <a:r>
              <a:rPr lang="pl-PL" dirty="0"/>
              <a:t>) to sieć serwerów dostarczających statyczne zasoby użytkownikom z najbliższej lokalizacji.</a:t>
            </a:r>
            <a:br>
              <a:rPr lang="pl-PL" dirty="0"/>
            </a:br>
            <a:r>
              <a:rPr lang="pl-PL" b="1" dirty="0" err="1"/>
              <a:t>CloudFront</a:t>
            </a:r>
            <a:r>
              <a:rPr lang="pl-PL" dirty="0"/>
              <a:t> to usługa CDN firmy AWS.</a:t>
            </a:r>
            <a:br>
              <a:rPr lang="pl-PL" dirty="0"/>
            </a:br>
            <a:r>
              <a:rPr lang="pl-PL" b="1" dirty="0"/>
              <a:t>API Gateway</a:t>
            </a:r>
            <a:r>
              <a:rPr lang="pl-PL" dirty="0"/>
              <a:t> to komponent pośredniczący pomiędzy klientem a </a:t>
            </a:r>
            <a:r>
              <a:rPr lang="pl-PL" dirty="0" err="1"/>
              <a:t>mikroserwisami</a:t>
            </a:r>
            <a:r>
              <a:rPr lang="pl-PL" dirty="0"/>
              <a:t>, odpowiedzialny za routing, autoryzację i kontrolę ruchu.</a:t>
            </a:r>
            <a:br>
              <a:rPr lang="pl-PL" dirty="0"/>
            </a:br>
            <a:r>
              <a:rPr lang="pl-PL" b="1" dirty="0"/>
              <a:t>Kong</a:t>
            </a:r>
            <a:r>
              <a:rPr lang="pl-PL" dirty="0"/>
              <a:t> i </a:t>
            </a:r>
            <a:r>
              <a:rPr lang="pl-PL" b="1" dirty="0"/>
              <a:t>NGINX</a:t>
            </a:r>
            <a:r>
              <a:rPr lang="pl-PL" dirty="0"/>
              <a:t> są popularnymi rozwiązaniami pełniącymi rolę API Gateway i serwera </a:t>
            </a:r>
            <a:r>
              <a:rPr lang="pl-PL" dirty="0" err="1"/>
              <a:t>proxy</a:t>
            </a:r>
            <a:r>
              <a:rPr lang="pl-PL" dirty="0"/>
              <a:t>.</a:t>
            </a:r>
            <a:br>
              <a:rPr lang="pl-PL" dirty="0"/>
            </a:br>
            <a:r>
              <a:rPr lang="pl-PL" b="1" dirty="0" err="1"/>
              <a:t>Load</a:t>
            </a:r>
            <a:r>
              <a:rPr lang="pl-PL" b="1" dirty="0"/>
              <a:t> </a:t>
            </a:r>
            <a:r>
              <a:rPr lang="pl-PL" b="1" dirty="0" err="1"/>
              <a:t>Balancer</a:t>
            </a:r>
            <a:r>
              <a:rPr lang="pl-PL" b="1" dirty="0"/>
              <a:t> (ALB – Application </a:t>
            </a:r>
            <a:r>
              <a:rPr lang="pl-PL" b="1" dirty="0" err="1"/>
              <a:t>Load</a:t>
            </a:r>
            <a:r>
              <a:rPr lang="pl-PL" b="1" dirty="0"/>
              <a:t> </a:t>
            </a:r>
            <a:r>
              <a:rPr lang="pl-PL" b="1" dirty="0" err="1"/>
              <a:t>Balancer</a:t>
            </a:r>
            <a:r>
              <a:rPr lang="pl-PL" b="1" dirty="0"/>
              <a:t>)</a:t>
            </a:r>
            <a:r>
              <a:rPr lang="pl-PL" dirty="0"/>
              <a:t> odpowiada za równomierne rozdzielanie ruchu pomiędzy instancje aplikacji.</a:t>
            </a:r>
            <a:br>
              <a:rPr lang="pl-PL" dirty="0"/>
            </a:br>
            <a:r>
              <a:rPr lang="pl-PL" b="1" dirty="0"/>
              <a:t>WAF</a:t>
            </a:r>
            <a:r>
              <a:rPr lang="pl-PL" dirty="0"/>
              <a:t> (</a:t>
            </a:r>
            <a:r>
              <a:rPr lang="pl-PL" i="1" dirty="0"/>
              <a:t>Web Application Firewall</a:t>
            </a:r>
            <a:r>
              <a:rPr lang="pl-PL" dirty="0"/>
              <a:t>) chroni aplikację przed atakami sieciowymi.</a:t>
            </a:r>
            <a:br>
              <a:rPr lang="pl-PL" dirty="0"/>
            </a:br>
            <a:r>
              <a:rPr lang="pl-PL" b="1" dirty="0"/>
              <a:t>TLS</a:t>
            </a:r>
            <a:r>
              <a:rPr lang="pl-PL" dirty="0"/>
              <a:t> (</a:t>
            </a:r>
            <a:r>
              <a:rPr lang="pl-PL" i="1" dirty="0"/>
              <a:t>Transport </a:t>
            </a:r>
            <a:r>
              <a:rPr lang="pl-PL" i="1" dirty="0" err="1"/>
              <a:t>Layer</a:t>
            </a:r>
            <a:r>
              <a:rPr lang="pl-PL" i="1" dirty="0"/>
              <a:t> Security</a:t>
            </a:r>
            <a:r>
              <a:rPr lang="pl-PL" dirty="0"/>
              <a:t>) zapewnia szyfrowanie transmisji danych pomiędzy klientem a serwerem.</a:t>
            </a:r>
          </a:p>
          <a:p>
            <a:r>
              <a:rPr lang="pl-PL" b="1" dirty="0" err="1"/>
              <a:t>Mikroserwisy</a:t>
            </a:r>
            <a:endParaRPr lang="pl-PL" b="1" dirty="0"/>
          </a:p>
          <a:p>
            <a:r>
              <a:rPr lang="pl-PL" dirty="0" err="1"/>
              <a:t>Mikroserwisy</a:t>
            </a:r>
            <a:r>
              <a:rPr lang="pl-PL" dirty="0"/>
              <a:t> to niezależne komponenty realizujące konkretne funkcje systemu.</a:t>
            </a:r>
            <a:br>
              <a:rPr lang="pl-PL" dirty="0"/>
            </a:br>
            <a:r>
              <a:rPr lang="pl-PL" b="1" dirty="0" err="1"/>
              <a:t>Auth</a:t>
            </a:r>
            <a:r>
              <a:rPr lang="pl-PL" b="1" dirty="0"/>
              <a:t> Service</a:t>
            </a:r>
            <a:r>
              <a:rPr lang="pl-PL" dirty="0"/>
              <a:t> odpowiada za uwierzytelnianie i autoryzację użytkowników.</a:t>
            </a:r>
            <a:br>
              <a:rPr lang="pl-PL" dirty="0"/>
            </a:br>
            <a:r>
              <a:rPr lang="pl-PL" b="1" dirty="0"/>
              <a:t>Message Service</a:t>
            </a:r>
            <a:r>
              <a:rPr lang="pl-PL" dirty="0"/>
              <a:t> obsługuje wysyłanie i odbieranie wiadomości.</a:t>
            </a:r>
            <a:br>
              <a:rPr lang="pl-PL" dirty="0"/>
            </a:br>
            <a:r>
              <a:rPr lang="pl-PL" b="1" dirty="0" err="1"/>
              <a:t>WebSocket</a:t>
            </a:r>
            <a:r>
              <a:rPr lang="pl-PL" b="1" dirty="0"/>
              <a:t> Service</a:t>
            </a:r>
            <a:r>
              <a:rPr lang="pl-PL" dirty="0"/>
              <a:t> umożliwia komunikację w czasie rzeczywistym bez ciągłego odświeżania połączenia.</a:t>
            </a:r>
            <a:br>
              <a:rPr lang="pl-PL" dirty="0"/>
            </a:br>
            <a:r>
              <a:rPr lang="pl-PL" b="1" dirty="0"/>
              <a:t>Notification Service</a:t>
            </a:r>
            <a:r>
              <a:rPr lang="pl-PL" dirty="0"/>
              <a:t> odpowiada za wysyłanie powiadomień.</a:t>
            </a:r>
            <a:br>
              <a:rPr lang="pl-PL" dirty="0"/>
            </a:br>
            <a:r>
              <a:rPr lang="pl-PL" b="1" dirty="0"/>
              <a:t>File Service</a:t>
            </a:r>
            <a:r>
              <a:rPr lang="pl-PL" dirty="0"/>
              <a:t> zarządza plikami przesyłanymi przez użytkowników.</a:t>
            </a:r>
            <a:br>
              <a:rPr lang="pl-PL" dirty="0"/>
            </a:br>
            <a:r>
              <a:rPr lang="pl-PL" b="1" dirty="0"/>
              <a:t>User/Profile Service</a:t>
            </a:r>
            <a:r>
              <a:rPr lang="pl-PL" dirty="0"/>
              <a:t> przechowuje dane użytkowników i profile.</a:t>
            </a:r>
            <a:br>
              <a:rPr lang="pl-PL" dirty="0"/>
            </a:br>
            <a:r>
              <a:rPr lang="pl-PL" b="1" dirty="0" err="1"/>
              <a:t>Search</a:t>
            </a:r>
            <a:r>
              <a:rPr lang="pl-PL" b="1" dirty="0"/>
              <a:t> Service</a:t>
            </a:r>
            <a:r>
              <a:rPr lang="pl-PL" dirty="0"/>
              <a:t> realizuje wyszukiwanie danych w systemie.</a:t>
            </a:r>
            <a:br>
              <a:rPr lang="pl-PL" dirty="0"/>
            </a:br>
            <a:r>
              <a:rPr lang="pl-PL" b="1" dirty="0"/>
              <a:t>Media </a:t>
            </a:r>
            <a:r>
              <a:rPr lang="pl-PL" b="1" dirty="0" err="1"/>
              <a:t>Worker</a:t>
            </a:r>
            <a:r>
              <a:rPr lang="pl-PL" dirty="0"/>
              <a:t> odpowiada za przetwarzanie multimediów, np. kompresję obrazów lub konwersję plików.</a:t>
            </a:r>
          </a:p>
          <a:p>
            <a:r>
              <a:rPr lang="pl-PL" b="1" dirty="0"/>
              <a:t>Messaging (</a:t>
            </a:r>
            <a:r>
              <a:rPr lang="pl-PL" b="1" dirty="0" err="1"/>
              <a:t>Async</a:t>
            </a:r>
            <a:r>
              <a:rPr lang="pl-PL" b="1" dirty="0"/>
              <a:t>)</a:t>
            </a:r>
          </a:p>
          <a:p>
            <a:r>
              <a:rPr lang="pl-PL" dirty="0"/>
              <a:t>Warstwa komunikacji asynchronicznej umożliwia wymianę danych między usługami bez konieczności bezpośredniej komunikacji w czasie rzeczywistym.</a:t>
            </a:r>
            <a:br>
              <a:rPr lang="pl-PL" dirty="0"/>
            </a:br>
            <a:r>
              <a:rPr lang="pl-PL" b="1" dirty="0"/>
              <a:t>Apache Kafka</a:t>
            </a:r>
            <a:r>
              <a:rPr lang="pl-PL" dirty="0"/>
              <a:t> to platforma do przesyłania zdarzeń i komunikatów pomiędzy </a:t>
            </a:r>
            <a:r>
              <a:rPr lang="pl-PL" dirty="0" err="1"/>
              <a:t>mikroserwisami</a:t>
            </a:r>
            <a:r>
              <a:rPr lang="pl-PL" dirty="0"/>
              <a:t>.</a:t>
            </a:r>
            <a:br>
              <a:rPr lang="pl-PL" dirty="0"/>
            </a:br>
            <a:r>
              <a:rPr lang="pl-PL" b="1" dirty="0" err="1"/>
              <a:t>Async</a:t>
            </a:r>
            <a:r>
              <a:rPr lang="pl-PL" dirty="0"/>
              <a:t> (</a:t>
            </a:r>
            <a:r>
              <a:rPr lang="pl-PL" i="1" dirty="0" err="1"/>
              <a:t>Asynchronous</a:t>
            </a:r>
            <a:r>
              <a:rPr lang="pl-PL" i="1" dirty="0"/>
              <a:t> </a:t>
            </a:r>
            <a:r>
              <a:rPr lang="pl-PL" i="1" dirty="0" err="1"/>
              <a:t>Communication</a:t>
            </a:r>
            <a:r>
              <a:rPr lang="pl-PL" dirty="0"/>
              <a:t>) oznacza komunikację asynchroniczną, w której usługi mogą działać niezależnie od siebie.</a:t>
            </a:r>
            <a:br>
              <a:rPr lang="pl-PL" dirty="0"/>
            </a:br>
            <a:r>
              <a:rPr lang="pl-PL" b="1" dirty="0"/>
              <a:t>Event Bus</a:t>
            </a:r>
            <a:r>
              <a:rPr lang="pl-PL" dirty="0"/>
              <a:t> to mechanizm przekazywania zdarzeń pomiędzy komponentami systemu.</a:t>
            </a:r>
          </a:p>
          <a:p>
            <a:r>
              <a:rPr lang="pl-PL" b="1" dirty="0"/>
              <a:t>Warstwa danych</a:t>
            </a:r>
          </a:p>
          <a:p>
            <a:r>
              <a:rPr lang="pl-PL" dirty="0"/>
              <a:t>Warstwa danych odpowiada za przechowywanie i zarządzanie informacjami systemowymi.</a:t>
            </a:r>
            <a:br>
              <a:rPr lang="pl-PL" dirty="0"/>
            </a:br>
            <a:r>
              <a:rPr lang="pl-PL" b="1" dirty="0" err="1"/>
              <a:t>PostgreSQL</a:t>
            </a:r>
            <a:r>
              <a:rPr lang="pl-PL" dirty="0"/>
              <a:t> to relacyjna baza danych przechowująca dane aplikacji.</a:t>
            </a:r>
            <a:br>
              <a:rPr lang="pl-PL" dirty="0"/>
            </a:br>
            <a:r>
              <a:rPr lang="pl-PL" b="1" dirty="0" err="1"/>
              <a:t>Redis</a:t>
            </a:r>
            <a:r>
              <a:rPr lang="pl-PL" b="1" dirty="0"/>
              <a:t> Cluster</a:t>
            </a:r>
            <a:r>
              <a:rPr lang="pl-PL" dirty="0"/>
              <a:t> to rozproszona pamięć cache wykorzystywana do szybkiego dostępu do danych i przechowywania sesji.</a:t>
            </a:r>
            <a:br>
              <a:rPr lang="pl-PL" dirty="0"/>
            </a:br>
            <a:r>
              <a:rPr lang="pl-PL" b="1" dirty="0" err="1"/>
              <a:t>Elasticsearch</a:t>
            </a:r>
            <a:r>
              <a:rPr lang="pl-PL" dirty="0"/>
              <a:t> to silnik wyszukiwania i analizy danych umożliwiający szybkie wyszukiwanie informacji.</a:t>
            </a:r>
            <a:br>
              <a:rPr lang="pl-PL" dirty="0"/>
            </a:br>
            <a:r>
              <a:rPr lang="pl-PL" b="1" dirty="0" err="1"/>
              <a:t>MinIO</a:t>
            </a:r>
            <a:r>
              <a:rPr lang="pl-PL" dirty="0"/>
              <a:t> to system przechowywania plików kompatybilny z S3.</a:t>
            </a:r>
            <a:br>
              <a:rPr lang="pl-PL" dirty="0"/>
            </a:br>
            <a:r>
              <a:rPr lang="pl-PL" b="1" dirty="0"/>
              <a:t>AWS S3</a:t>
            </a:r>
            <a:r>
              <a:rPr lang="pl-PL" dirty="0"/>
              <a:t> (</a:t>
            </a:r>
            <a:r>
              <a:rPr lang="pl-PL" i="1" dirty="0"/>
              <a:t>Amazon Web Services Simple Storage Service</a:t>
            </a:r>
            <a:r>
              <a:rPr lang="pl-PL" dirty="0"/>
              <a:t>) to chmurowa usługa przechowywania plików.</a:t>
            </a:r>
            <a:br>
              <a:rPr lang="pl-PL" dirty="0"/>
            </a:br>
            <a:r>
              <a:rPr lang="pl-PL" b="1" dirty="0" err="1"/>
              <a:t>PgBouncer</a:t>
            </a:r>
            <a:r>
              <a:rPr lang="pl-PL" dirty="0"/>
              <a:t> to narzędzie do zarządzania pulą połączeń do </a:t>
            </a:r>
            <a:r>
              <a:rPr lang="pl-PL" dirty="0" err="1"/>
              <a:t>PostgreSQL</a:t>
            </a:r>
            <a:r>
              <a:rPr lang="pl-PL" dirty="0"/>
              <a:t>, poprawiające wydajność systemu.</a:t>
            </a:r>
          </a:p>
          <a:p>
            <a:r>
              <a:rPr lang="pl-PL" b="1" dirty="0"/>
              <a:t>Monitoring</a:t>
            </a:r>
          </a:p>
          <a:p>
            <a:r>
              <a:rPr lang="pl-PL" dirty="0"/>
              <a:t>Warstwa monitoringu odpowiada za obserwację działania systemu, analizę błędów i wydajności.</a:t>
            </a:r>
            <a:br>
              <a:rPr lang="pl-PL" dirty="0"/>
            </a:br>
            <a:r>
              <a:rPr lang="pl-PL" b="1" dirty="0" err="1"/>
              <a:t>Prometheus</a:t>
            </a:r>
            <a:r>
              <a:rPr lang="pl-PL" dirty="0"/>
              <a:t> służy do zbierania metryk systemowych.</a:t>
            </a:r>
            <a:br>
              <a:rPr lang="pl-PL" dirty="0"/>
            </a:br>
            <a:r>
              <a:rPr lang="pl-PL" b="1" dirty="0" err="1"/>
              <a:t>Grafana</a:t>
            </a:r>
            <a:r>
              <a:rPr lang="pl-PL" dirty="0"/>
              <a:t> umożliwia wizualizację danych i tworzenie </a:t>
            </a:r>
            <a:r>
              <a:rPr lang="pl-PL" dirty="0" err="1"/>
              <a:t>dashboardów</a:t>
            </a:r>
            <a:r>
              <a:rPr lang="pl-PL" dirty="0"/>
              <a:t> monitorujących.</a:t>
            </a:r>
            <a:br>
              <a:rPr lang="pl-PL" dirty="0"/>
            </a:br>
            <a:r>
              <a:rPr lang="pl-PL" b="1" dirty="0"/>
              <a:t>ELK </a:t>
            </a:r>
            <a:r>
              <a:rPr lang="pl-PL" b="1" dirty="0" err="1"/>
              <a:t>Stack</a:t>
            </a:r>
            <a:r>
              <a:rPr lang="pl-PL" dirty="0"/>
              <a:t> to zestaw narzędzi: </a:t>
            </a:r>
            <a:r>
              <a:rPr lang="pl-PL" dirty="0" err="1"/>
              <a:t>Elasticsearch</a:t>
            </a:r>
            <a:r>
              <a:rPr lang="pl-PL" dirty="0"/>
              <a:t>, </a:t>
            </a:r>
            <a:r>
              <a:rPr lang="pl-PL" dirty="0" err="1"/>
              <a:t>Logstash</a:t>
            </a:r>
            <a:r>
              <a:rPr lang="pl-PL" dirty="0"/>
              <a:t> i </a:t>
            </a:r>
            <a:r>
              <a:rPr lang="pl-PL" dirty="0" err="1"/>
              <a:t>Kibana</a:t>
            </a:r>
            <a:r>
              <a:rPr lang="pl-PL" dirty="0"/>
              <a:t>, wykorzystywany do analizy logów.</a:t>
            </a:r>
            <a:br>
              <a:rPr lang="pl-PL" dirty="0"/>
            </a:br>
            <a:r>
              <a:rPr lang="pl-PL" b="1" dirty="0" err="1"/>
              <a:t>OpenTelemetry</a:t>
            </a:r>
            <a:r>
              <a:rPr lang="pl-PL" dirty="0"/>
              <a:t> służy do zbierania danych telemetrycznych z aplikacji.</a:t>
            </a:r>
            <a:br>
              <a:rPr lang="pl-PL" dirty="0"/>
            </a:br>
            <a:r>
              <a:rPr lang="pl-PL" b="1" dirty="0" err="1"/>
              <a:t>Jaeger</a:t>
            </a:r>
            <a:r>
              <a:rPr lang="pl-PL" dirty="0"/>
              <a:t> umożliwia śledzenie przepływu żądań pomiędzy </a:t>
            </a:r>
            <a:r>
              <a:rPr lang="pl-PL" dirty="0" err="1"/>
              <a:t>mikroserwisami</a:t>
            </a:r>
            <a:r>
              <a:rPr lang="pl-PL" dirty="0"/>
              <a:t> (</a:t>
            </a:r>
            <a:r>
              <a:rPr lang="pl-PL" i="1" dirty="0" err="1"/>
              <a:t>distributed</a:t>
            </a:r>
            <a:r>
              <a:rPr lang="pl-PL" i="1" dirty="0"/>
              <a:t> </a:t>
            </a:r>
            <a:r>
              <a:rPr lang="pl-PL" i="1" dirty="0" err="1"/>
              <a:t>tracing</a:t>
            </a:r>
            <a:r>
              <a:rPr lang="pl-PL" dirty="0"/>
              <a:t>).</a:t>
            </a:r>
            <a:br>
              <a:rPr lang="pl-PL" dirty="0"/>
            </a:br>
            <a:r>
              <a:rPr lang="pl-PL" b="1" dirty="0" err="1"/>
              <a:t>PagerDuty</a:t>
            </a:r>
            <a:r>
              <a:rPr lang="pl-PL" dirty="0"/>
              <a:t> to system do obsługi alertów i zarządzania incydentami produkcyjnymi.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6B21D-103F-EBE1-A46D-7071B7765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531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Opierając się na analizie projektu, system komunikatora jest rozproszony praktycznie na każdym swoim poziomie – od momentu, w którym wpisujesz adres w przeglądarkę, aż po bezpieczne składowanie Twoich plików na dyskach. Projektanci rozdzielili system na wiele współpracujących ze sobą elementów, dzięki czemu potrafi on udźwignąć ogromny ruch i nie wyłącza się w całości, gdy jeden serwer odmówi posłuszeństwa.</a:t>
            </a:r>
          </a:p>
          <a:p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 główne miejsca rozproszenia systemu rozpisane prostym językiem wraz z przykładami: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Warstwa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(Obsługa połączeń "na żywo")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 jest rozproszona: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 nie posiada jednego serwera do obsługi czatu – zamiast tego działa tam wiele niezależnych maszyn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WebSocketService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a ruch między nimi koordynuje baza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 ludzku: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Kiedy uruchamiasz aplikację, zostajesz podłączony do losowego serwera, który ma wolne zasoby.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Przykład: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 łączysz się z Serwerem A, a Twoja koleżanka z biura z Serwerem B. Kiedy piszesz do niej wiadomość, Serwer A przekazuje ją do specjalnej "skrzynki rozdzielczej"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RedisPub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która wie, że koleżanka siedzi na Serwerze B i tam natychmiast przekierowuje tekst. Dla Was obojga wygląda to tak, jakbyście rozmawiali w tym samym pokoju.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Warstwa Logiki Biznesowej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 jest rozproszona: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Zamiast jednej wielkiej aplikacji, system podzielono na małe, wyspecjalizowane programiki (np.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AuthService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logowania, Message Service do wiadomości, File Service do plików). Każdy z nich działa na osobnym, niezależnym serwerze wirtualnym (w kontenerach Docker/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 ludzku: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Każda funkcja w aplikacji żyje własnym życiem.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Przykład: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Jeśli w piątek po południu wszyscy pracownicy firmy zaczną na raz ściągać gigantyczne pliki z raportami, serwer odpowiedzialny za pliki (File Service) mocno zwolni. Jednak dzięki rozproszeniu, serwer odpowiedzialny za wysyłanie zwykłych wiadomości tekstowych (Message Service) nawet tego nie odczuje – teksty będą dochodzić natychmiast.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Centralna Szyna Danych (Apache Kafka)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 jest rozproszona: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Wszystkie komunikaty wewnątrz systemu przechodzą przez klaster złożony z 3 niezależnych serwerów (brokerów). Każda informacja jest automatycznie kopiowana w kilku miejscach na raz.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 ludzku: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bezpieczna, rozproszona poczta wewnętrzna dla serwerów.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Przykład: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Klikasz "Wyślij wiadomość". System rzuca tę informację do klastra Kafki. Nawet jeśli w tej samej sekundzie jeden z trzech serwerów Kafki doszczętnie spłonie lub straci zasilanie, dwa pozostałe natychmiast przejmą jego zadania bez utraty choćby jednej litery z Twojej wiadomości.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Relacyjna Baza Danych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 jest rozproszona: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Zastosowano konfigurację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Primary-Replica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Istnieje jeden główny serwer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do którego trafiają nowe wpisy, oraz kilka serwerów zapasowych (Read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Replicas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które tylko kopiują dane i służą do ich czytania. Dodatkowo dla wielkich wdrożeń dane dzieli się na mniejsze kawałki, tzw.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sharding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 ludzku: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Rozdzielono proces "zapisywania" od procesu "czytania" bazy danych.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Przykład: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Kiedy piszesz wiadomość, zapisuje się ona na serwerze głównym. Ale kiedy rano wchodzisz do aplikacji i przewijasz historię czatu z całego tygodnia, Twoja przeglądarka pobiera te dane z serwerów-replik. Dzięki temu miliony zapytań o starą historię nie spowalniają wysyłania nowych wiadomości.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Rozproszenie Geograficzne i Infrastrukturalne (Multi-AZ i Multi-Region)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 jest rozproszone: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Główna infrastruktura produkcyjna rozlokowana jest w 3 tzw. Strefach Dostępności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Availability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w Frankfurcie, a jej kopia bezpieczeństwa znajduje się w zupełnie innym kraju – w Irlandii. Dodatkowo statyczne pliki aplikacji (ikony, skrypty) są rozproszone po całym świecie na serwerach CDN przybliżonych do użytkowników.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 ludzku: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Serwery fizycznie znajdują się w różnych budynkach, a nawet w różnych państwach.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Przykład: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Jeśli w jednym z centrów danych w Niemczech nastąpi awaria zasilania lub pożar, system automatycznie i niezauważalnie przełączy ruch do pozostałych budynków w tej strefie. Gdyby doszło do katastrofy na skalę całego regionu niemieckiego, inżynierowie mogą w niecałą godzinę uruchomić zapasowy system w Irlandii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Disaster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Recovery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korzystając z ciągle replikowanych tam baz danych.</a:t>
            </a:r>
          </a:p>
          <a:p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Pojecia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 (Wiele instancji)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to jest: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Usługa odpowiadająca za utrzymywanie stałego, otwartego "tunelu" komunikacyjnego między użytkownikiem a serwerem.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 działa: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 przeciwieństwie do zwykłych stron, gdzie przeglądarka musi co chwilę pytać "czy są nowe wiadomości?", tutaj serwer sam natychmiast wysyła powiadomienie (w czasie rzeczywistym).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Wiele instancji: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Oznacza, że usługa działa na wielu serwerach jednocześnie, aby obsłużyć ogromną liczbę użytkowników.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Pub/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Subscribe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to jest: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 powiadomień i synchronizacji (jak cyfrowa tablica ogłoszeń).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 działa: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Kiedy użytkownik podłączony do 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Serwera A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wyśle wiadomość, 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Serwer A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publikuje ją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w systemie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Pozostałe serwery (B, C, D), które nasłuchują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Subscribe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natychmiast ją odbierają. Dzięki temu wszystkie instancje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wiedzą o wiadomości w tym samym ułamku sekundy.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Bezstanowy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Message Service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to jest: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Sposób działania serwera obsługującego wiadomości.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 działa: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Serwer nie zapisuje w swojej pamięci lokalnej żadnych informacji o tym, kim jesteś ani co robiłeś przed chwilą. Każde zapytanie z Twojej przeglądarki musi zawierać komplet informacji. Dzięki temu system jest bardzo stabilny – jeśli jeden serwer ulegnie awarii, inny natychmiast przejmie jego zadanie bez utraty danych.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Skalowanie poziome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Horizontal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Scaling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to jest: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Zwiększanie mocy systemu poprzez dodawanie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kolejnych maszyn/serwerów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zamiast ulepszania jednego istniejącego (co nazywa się skalowaniem pionowym). Jeśli aplikacja zwalnia, po prostu dokłada się do niej kolejny, tańszy serwer.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repliki do odczytu)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(główny):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Jeden, centralny serwer bazy danych, na którym aplikacja wykonuje wszystkie operacje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zapisu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modyfikacji (np. rejestracja, wysłanie nowej wiadomości).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Repliki do odczytu (Read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Replicas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Kopie zapasowe bazy danych, z których aplikacja wyłącznie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czyta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informacje (np. wyświetlanie historii). Odciążają one główny serwer.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Sharding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(po identyfikatorze przestrzeni roboczej)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to jest: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Dzielenie jednej wielkiej bazy danych na mniejsze kawałki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 rozrzucanie ich na różne serwery.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 tym systemie: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Dane są krojone według ID firmy/projektu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Dane firmy X trafiają na serwer 1, a dane firmy Y na serwer 2. Zapobiega to zapchaniu bazy danych przy milionach użytkowników.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Cluster (3 mastery + 3 repliki)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Klaster: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Grupa współpracujących ze sobą serwerów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(bardzo szybkiej bazy danych w pamięci RAM).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Mastery: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Trzy główne serwery, które dzielą między sobą dane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sharding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 kluczu).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Repliki: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Trzy serwery "cienie". Każdy master ma swojego pomocnika, który w przypadku awarii głównego serwera natychmiast przejmuje jego funkcje.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Apache Kafka (3 brokerów + replikacja partycji o czynniku 3)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to jest: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 do przesyłania i kolejkowania gigantycznych strumieni danych w czasie rzeczywistym.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Brokerów: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 prostu klaster składający się z 3 serwerów fizycznych/wirtualnych.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Czynnik replikacji 3: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Każda paczka danych jest automatycznie kopiowana na wszystkie 3 serwery. Jeśli dwa z nich ulegną awarii, system nadal ma kompletną kopię na trzecim i nie gubi danych.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Elasticsearch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 węzły + partycja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replika per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to jest: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Specjalny system (silnik) stworzony do błyskawicznego przeszukiwania ogromnych ilości tekstu (np. wyszukiwarka słów w czatach).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Węzły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serwery tworzące ten system.</a:t>
            </a:r>
          </a:p>
          <a:p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replika per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Dane wyszukiwarki są dzielone na części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Każda część ma swoją wersję główną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oraz kopię bezpieczeństwa (replika) rozsiane po tych 3 serwerach.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10. CDN i Edge (Geograficznie rozproszone węzły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PoP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CDN (Content Delivery Network):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Globalna sieć serwerów przechowująca kopie stałych elementów aplikacji (zdjęcia, ikony, pliki kodu).</a:t>
            </a:r>
          </a:p>
          <a:p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 / Węzły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PoP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(Point of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Serwery umieszczone "na krawędzi" sieci, jak najbliżej użytkownika. Jeśli użytkownik jest z Polski, pobiera zdjęcia z serwera w Warszawie, a nie z głównej serwerowni w USA, co skraca czas ładowania strony do minimum.</a:t>
            </a:r>
          </a:p>
          <a:p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System wykorzystuje kilka mechanizmów odporności na awarie:</a:t>
            </a:r>
          </a:p>
          <a:p>
            <a:r>
              <a:rPr lang="pl-PL" b="1" dirty="0" err="1"/>
              <a:t>Circuit</a:t>
            </a:r>
            <a:r>
              <a:rPr lang="pl-PL" b="1" dirty="0"/>
              <a:t> </a:t>
            </a:r>
            <a:r>
              <a:rPr lang="pl-PL" b="1" dirty="0" err="1"/>
              <a:t>Breaker</a:t>
            </a:r>
            <a:r>
              <a:rPr lang="pl-PL" dirty="0"/>
              <a:t> – po wykryciu błędów serwis przestaje wysyłać żądania do uszkodzonego komponentu i zwraca </a:t>
            </a:r>
            <a:r>
              <a:rPr lang="pl-PL" dirty="0" err="1"/>
              <a:t>fallback</a:t>
            </a:r>
            <a:r>
              <a:rPr lang="pl-PL" dirty="0"/>
              <a:t> </a:t>
            </a:r>
            <a:r>
              <a:rPr lang="pl-PL" dirty="0" err="1"/>
              <a:t>response</a:t>
            </a:r>
            <a:r>
              <a:rPr lang="pl-PL" dirty="0"/>
              <a:t>. </a:t>
            </a:r>
          </a:p>
          <a:p>
            <a:r>
              <a:rPr lang="pl-PL" b="1" dirty="0" err="1"/>
              <a:t>Retry</a:t>
            </a:r>
            <a:r>
              <a:rPr lang="pl-PL" b="1" dirty="0"/>
              <a:t> z </a:t>
            </a:r>
            <a:r>
              <a:rPr lang="pl-PL" b="1" dirty="0" err="1"/>
              <a:t>exponential</a:t>
            </a:r>
            <a:r>
              <a:rPr lang="pl-PL" b="1" dirty="0"/>
              <a:t> </a:t>
            </a:r>
            <a:r>
              <a:rPr lang="pl-PL" b="1" dirty="0" err="1"/>
              <a:t>backoff</a:t>
            </a:r>
            <a:r>
              <a:rPr lang="pl-PL" dirty="0"/>
              <a:t> – ponawianie żądań z rosnącym opóźnieniem dla błędów przejściowych. </a:t>
            </a:r>
          </a:p>
          <a:p>
            <a:r>
              <a:rPr lang="pl-PL" b="1" dirty="0" err="1"/>
              <a:t>Graceful</a:t>
            </a:r>
            <a:r>
              <a:rPr lang="pl-PL" b="1" dirty="0"/>
              <a:t> </a:t>
            </a:r>
            <a:r>
              <a:rPr lang="pl-PL" b="1" dirty="0" err="1"/>
              <a:t>degradation</a:t>
            </a:r>
            <a:r>
              <a:rPr lang="pl-PL" dirty="0"/>
              <a:t> – awaria jednego komponentu nie zatrzymuje całego systemu: </a:t>
            </a:r>
          </a:p>
          <a:p>
            <a:pPr lvl="1"/>
            <a:r>
              <a:rPr lang="pl-PL" dirty="0"/>
              <a:t>awaria </a:t>
            </a:r>
            <a:r>
              <a:rPr lang="pl-PL" dirty="0" err="1"/>
              <a:t>Redis</a:t>
            </a:r>
            <a:r>
              <a:rPr lang="pl-PL" dirty="0"/>
              <a:t> powoduje tylko brak statusów online i wolniejsze odpowiedzi, </a:t>
            </a:r>
          </a:p>
          <a:p>
            <a:pPr lvl="1"/>
            <a:r>
              <a:rPr lang="pl-PL" dirty="0"/>
              <a:t>awaria jednego brokera Kafka nie wpływa na działanie dzięki replikacji, </a:t>
            </a:r>
          </a:p>
          <a:p>
            <a:pPr lvl="1"/>
            <a:r>
              <a:rPr lang="pl-PL" dirty="0"/>
              <a:t>awaria </a:t>
            </a:r>
            <a:r>
              <a:rPr lang="pl-PL" dirty="0" err="1"/>
              <a:t>PostgreSQL</a:t>
            </a:r>
            <a:r>
              <a:rPr lang="pl-PL" dirty="0"/>
              <a:t> </a:t>
            </a:r>
            <a:r>
              <a:rPr lang="pl-PL" dirty="0" err="1"/>
              <a:t>primary</a:t>
            </a:r>
            <a:r>
              <a:rPr lang="pl-PL" dirty="0"/>
              <a:t> uruchamia automatyczny </a:t>
            </a:r>
            <a:r>
              <a:rPr lang="pl-PL" dirty="0" err="1"/>
              <a:t>failover</a:t>
            </a:r>
            <a:r>
              <a:rPr lang="pl-PL" dirty="0"/>
              <a:t> do repliki, </a:t>
            </a:r>
          </a:p>
          <a:p>
            <a:pPr lvl="1"/>
            <a:r>
              <a:rPr lang="pl-PL" dirty="0"/>
              <a:t>awaria </a:t>
            </a:r>
            <a:r>
              <a:rPr lang="pl-PL" dirty="0" err="1"/>
              <a:t>Search</a:t>
            </a:r>
            <a:r>
              <a:rPr lang="pl-PL" dirty="0"/>
              <a:t> Service powoduje jedynie niedostępność wyszukiwania, </a:t>
            </a:r>
          </a:p>
          <a:p>
            <a:pPr lvl="1"/>
            <a:r>
              <a:rPr lang="pl-PL" dirty="0"/>
              <a:t>awaria instancji </a:t>
            </a:r>
            <a:r>
              <a:rPr lang="pl-PL" dirty="0" err="1"/>
              <a:t>WebSocket</a:t>
            </a:r>
            <a:r>
              <a:rPr lang="pl-PL" dirty="0"/>
              <a:t> skutkuje </a:t>
            </a:r>
            <a:r>
              <a:rPr lang="pl-PL" dirty="0" err="1"/>
              <a:t>reconnectem</a:t>
            </a:r>
            <a:r>
              <a:rPr lang="pl-PL" dirty="0"/>
              <a:t> klientów do innych instancji.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 krótki, uproszczony opis strategii skalowania, dostosowany bezpośrednio do dokumentacji Twojego projektu komunikatora webowego: 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Strategia skalowania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został zaprojektowany w architekturze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mikroserwisowej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wykorzystuje głównie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skalowanie poziome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(obsługę większego ruchu poprzez dodawanie kolejnych instancji serwisu, a nie zwiększanie mocy jednego komputera). 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bezstanowe: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Usługi takie jak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(logowanie) czy 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Service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(zarządzanie wiadomościami) są bezstanowe, więc w prosty sposób powiela się ich liczbę.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HPA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(kierownik systemu) automatycznie dokłada nowe instancje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gdy widzi zbyt duże zużycie procesora (CPU), pamięci (RAM) lub gdy na taśmie produkcyjnej zaczynają piętrzyć się zadania (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 lag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Skalowanie połączeń live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Serwis odpowiedzialny za komunikację w czasie rzeczywistym utrzymuje stałe połączenie z użytkownikiem. Aby system działał sprawnie na wielu instancjach,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Balancer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stosuje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sticky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(kieruje konkretnego użytkownika zawsze do tej samej instancji), a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Pub/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pełni rolę wewnętrznego radiowęzła, przesyłając powiadomienia o nowych wiadomościach pomiędzy rozproszonymi instancjami serwisu. 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Baza danych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Zapis nowych wiadomości trafia wyłącznie do głównej bazy (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Aby odciążyć system, do odczytywania historii rozmów czy profili wykorzystuje się tzw.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replicas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(wierne kopie bazy dedykowane tylko do odczytu). Przy ekstremalnym ruchu przewidziano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sharding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czyli podział danych na mniejsze części według identyfikatora organizacji (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workspace_id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Broker wiadomości (Apache Kafka):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Wszystkie zdarzenia (np. wysłanie wiadomości, wrzucenie pliku) trafiają na specjalną taśmę podzieloną na równoległe tory (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partycje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Dzięki temu wiele instancji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mikroserwisów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może jednocześnie, bez wzajemnego blokowania, pobierać i przetwarzać dane. 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Szybka pamięć podręczna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Cluster):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Dane podręczne (np. statusy obecności użytkowników, liczniki zapytania) są rozproszone na wiele węzłów. Dodanie kolejnych węzłów do klastra uruchamia automatyczny proces ponownego podziału przestrzeni na dane (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automatyczny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resharding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dzięki czemu system rozszerza swoją pamięć bez przerw w działaniu.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Przechodząc do fundamentów teoretycznych naszego systemu, musimy zmierzyć się z </a:t>
            </a:r>
            <a:r>
              <a:rPr lang="pl-PL" b="1" dirty="0"/>
              <a:t>twierdzeniem CAP</a:t>
            </a:r>
            <a:r>
              <a:rPr lang="pl-PL" dirty="0"/>
              <a:t>. W systemach rozproszonych nie możemy mieć wszystkiego naraz – musimy wybrać dwa z trzech elementów: Spójność, Dostępność lub Odporność na podział sieci.</a:t>
            </a:r>
          </a:p>
          <a:p>
            <a:r>
              <a:rPr lang="pl-PL" dirty="0"/>
              <a:t>W naszym komunikatorze podeszliśmy do tego pragmatycznie, stosując różne modele dla różnych typów danych:</a:t>
            </a:r>
          </a:p>
          <a:p>
            <a:r>
              <a:rPr lang="pl-PL" b="1" dirty="0"/>
              <a:t>Dla Wiadomości i Kafki wybraliśmy model CP (Spójność i Odporność).</a:t>
            </a:r>
            <a:r>
              <a:rPr lang="pl-PL" dirty="0"/>
              <a:t> Dlaczego? Ponieważ w czacie kolejność wiadomości jest krytyczna. Użytkownik nie może widzieć odpowiedzi przed pytaniem. Tutaj wolimy krótką niedostępność systemu podczas awarii, niż błędy w danych.</a:t>
            </a:r>
          </a:p>
          <a:p>
            <a:r>
              <a:rPr lang="pl-PL" b="1" dirty="0"/>
              <a:t>Dla Statusów obecności i Wyszukiwania wybraliśmy model AP (Dostępność i Odporność).</a:t>
            </a:r>
            <a:r>
              <a:rPr lang="pl-PL" dirty="0"/>
              <a:t> Tutaj stosujemy tzw. </a:t>
            </a:r>
            <a:r>
              <a:rPr lang="pl-PL" i="1" dirty="0" err="1"/>
              <a:t>Eventual</a:t>
            </a:r>
            <a:r>
              <a:rPr lang="pl-PL" i="1" dirty="0"/>
              <a:t> </a:t>
            </a:r>
            <a:r>
              <a:rPr lang="pl-PL" i="1" dirty="0" err="1"/>
              <a:t>Consistency</a:t>
            </a:r>
            <a:r>
              <a:rPr lang="pl-PL" dirty="0"/>
              <a:t>. Jeśli status kolegi „dostępny” odświeży się o 5 sekund później, nic się nie stanie. Ważniejsze jest, aby aplikacja zawsze reagowała na działania użytkownika i nie „zamrażała” interfejsu.</a:t>
            </a:r>
          </a:p>
          <a:p>
            <a:r>
              <a:rPr lang="pl-PL" dirty="0"/>
              <a:t>Podsumowując: spójność tam, gdzie liczy się prawda o danych, a dostępność tam, gdzie liczy się płynność doświadczenia użytkownika."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podstawie załączonego sprawozdania projektowego (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sprawozdanie_komunikator.docx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oto opis dwóch wskazanych zagadnień przygotowany z myślą o prezentacji: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Gdzie mogą wystąpić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bottlenecki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(wąskie gardła)?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 architekturze opisanego systemu potencjalne wąskie gardła mogą pojawić się w następujących miejscach: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Baza danych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(Warstwa wiadomości):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 zakłada silną spójność (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consistency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dla krytycznych danych, jakimi są wiadomości, i przechowuje je w relacyjnej bazie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Przy skokowym wzroście liczby jednoczesnych użytkowników i intensywnej wymianie komunikatów, pojedyncza instancja bazy danych szybko stanie się wąskim gardłem wydajnościowym (szczególnie operacje zapisu/I/O). 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Rozwiązaniem długofalowym wskazanym w dokumencie jest wprowadzenie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shardingu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Broker wiadomości Apache Kafka: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Kafka odpowiada za asynchroniczne przetwarzanie eventów, powiadomień oraz indeksowanie wyszukiwarki. Jeśli liczba partycji w tematach (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topics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będzie zbyt mała lub wydajność konsumentów (np. serwisu indeksującego) będzie niewystarczająca, dojdzie do opóźnień w przetwarzaniu zdarzeń (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consumer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lag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co przełoży się np. na opóźnienia w powiadomieniach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lub aktualizacji statusów.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Wyszukiwarka tekstowa (Indeks wyszukiwania):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Ponieważ operacje wyszukiwania i indeksowania działają w modelu spójności ostatecznej (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eventual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consistency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intensywne przeszukiwanie historii wiadomości przez wielu użytkowników jednocześnie może nadmiernie obciążyć zasoby procesora i pamięci serwisu odpowiedzialnego za przeszukiwanie.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Jak wygląda replikacja danych?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Zgodnie z dokumentem, system opiera się na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hybrydowym podejściu do spójności danych (kompromis CAP)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 bezpośrednio determinuje sposób ich replikacji i synchronizacji: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Replikacja synchroniczna (Silna spójność -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Dane krytyczne (takie jak treść wiadomości, dane użytkowników, uprawnienia) wymagają natychmiastowej spójności. Zapis w bazie danych musi być potwierdzony, aby zapewnić, że każdy użytkownik widzi dokładnie ten sam stan systemu w tym samym czasie. Replikacja w tym obszarze dąży do minimalizacji ryzyka utraty danych kosztem wyższej latencji przy zapisie.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Replikacja asynchroniczna (Spójność ostateczna / </a:t>
            </a:r>
            <a:r>
              <a:rPr lang="pl-PL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Eventual</a:t>
            </a:r>
            <a:r>
              <a:rPr lang="pl-PL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Consistency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Kafka, Statusy, Wyszukiwarka):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Dane o niższym priorytecie spójności (np. statusy obecności użytkowników „dostępny/niewidoczny”, indeksy wyszukiwania tekstowego) są replikowane i dystrybuowane asynchronicznie za pomocą brokera Apache Kafka.</a:t>
            </a:r>
          </a:p>
          <a:p>
            <a:pPr lvl="1"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Zdarzenie (event) jest wrzucane na kolejkę, a powiązane serwisy (np. serwis indeksujący lub serwis statusów) konsumują je i aktualizują swój stan niezależnie.</a:t>
            </a:r>
          </a:p>
          <a:p>
            <a:pPr lvl="1"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Sprawia to, że system w tym obszarze działa znacznie szybciej i jest bardziej skalowalny, jednak dopuszcza sytuację, w której przez krótką chwilę (do momentu zakończenia replikacji/przetworzenia eventu) różne komponenty mogą posiadać minimalnie nieaktualne informacje.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/>
              <a:t>Chmura Publiczna (Główne wdrożenie):</a:t>
            </a:r>
            <a:r>
              <a:rPr lang="pl-PL" dirty="0"/>
              <a:t> System produkcyjny działa na platformie </a:t>
            </a:r>
            <a:r>
              <a:rPr lang="pl-PL" b="1" dirty="0"/>
              <a:t>AWS (Amazon Web Services)</a:t>
            </a:r>
            <a:r>
              <a:rPr lang="pl-PL" dirty="0"/>
              <a:t>. Wykorzystuje model </a:t>
            </a:r>
            <a:r>
              <a:rPr lang="pl-PL" b="1" dirty="0"/>
              <a:t>Multi-AZ</a:t>
            </a:r>
            <a:r>
              <a:rPr lang="pl-PL" dirty="0"/>
              <a:t> (wiele stref dostępności) w regionie </a:t>
            </a:r>
            <a:r>
              <a:rPr lang="pl-P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eu-central-1</a:t>
            </a:r>
            <a:r>
              <a:rPr lang="pl-PL" dirty="0"/>
              <a:t> (Frankfurt).</a:t>
            </a:r>
          </a:p>
          <a:p>
            <a:r>
              <a:rPr lang="pl-PL" b="1" dirty="0"/>
              <a:t>On-</a:t>
            </a:r>
            <a:r>
              <a:rPr lang="pl-PL" b="1" dirty="0" err="1"/>
              <a:t>premise</a:t>
            </a:r>
            <a:r>
              <a:rPr lang="pl-PL" b="1" dirty="0"/>
              <a:t> / </a:t>
            </a:r>
            <a:r>
              <a:rPr lang="pl-PL" b="1" dirty="0" err="1"/>
              <a:t>Self</a:t>
            </a:r>
            <a:r>
              <a:rPr lang="pl-PL" b="1" dirty="0"/>
              <a:t>-hosting (Opcja):</a:t>
            </a:r>
            <a:r>
              <a:rPr lang="pl-PL" dirty="0"/>
              <a:t> System został zaprojektowany z myślą o możliwości </a:t>
            </a:r>
            <a:r>
              <a:rPr lang="pl-PL" b="1" dirty="0"/>
              <a:t>samodzielnego </a:t>
            </a:r>
            <a:r>
              <a:rPr lang="pl-PL" b="1" dirty="0" err="1"/>
              <a:t>hostowania</a:t>
            </a:r>
            <a:r>
              <a:rPr lang="pl-PL" dirty="0"/>
              <a:t> (</a:t>
            </a:r>
            <a:r>
              <a:rPr lang="pl-PL" dirty="0" err="1"/>
              <a:t>self</a:t>
            </a:r>
            <a:r>
              <a:rPr lang="pl-PL" dirty="0"/>
              <a:t>-hosting). Jest to kluczowa cecha dla organizacji (np. placówek medycznych czy sektora publicznego), które wymagają pełnej kontroli nad danymi i prywatności.</a:t>
            </a:r>
          </a:p>
          <a:p>
            <a:r>
              <a:rPr lang="pl-PL" b="1" dirty="0" err="1"/>
              <a:t>Disaster</a:t>
            </a:r>
            <a:r>
              <a:rPr lang="pl-PL" b="1" dirty="0"/>
              <a:t> </a:t>
            </a:r>
            <a:r>
              <a:rPr lang="pl-PL" b="1" dirty="0" err="1"/>
              <a:t>Recovery</a:t>
            </a:r>
            <a:r>
              <a:rPr lang="pl-PL" b="1" dirty="0"/>
              <a:t>:</a:t>
            </a:r>
            <a:r>
              <a:rPr lang="pl-PL" dirty="0"/>
              <a:t> System posiada replikację zapasową w drugim regionie chmurowym – </a:t>
            </a:r>
            <a:r>
              <a:rPr lang="pl-P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eu-west-1</a:t>
            </a:r>
            <a:r>
              <a:rPr lang="pl-PL" dirty="0"/>
              <a:t> (Irlandia), co zapewnia ciągłość działania w przypadku awarii głównego centrum danych.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 gotowy tekst przygotowany dla prowadzącego (np. podczas obrony projektu, prezentacji architektury lub egzaminu). Tekst jest sformułowany w sposób profesjonalny, konkretny i bezpośrednio nawiązuje do slajdu.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Odpowiedź dla prowadzącego: Konteneryzacja i Orkiestracja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Tak, w projekcie w pełni wykorzystuję konteneryzację oraz orkiestrację.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Cała architektura opiera się na nowoczesnym stosie technologicznym podzielonym na trzy główne filary: Docker,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oraz Service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Mesh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 kluczowe szczegóły tego wdrożenia: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Konteneryzacja (Docker)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Architektura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mikroserwisowa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Każdy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 systemie został zamknięty w osobnym obrazie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Dockerowym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 gwarantuje izolację i powtarzalność środowisk.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Optymalizacja: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Wykorzystuję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multi-stage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dzięki czemu gotowe obrazy produkcyjne mają minimalny rozmiar, zawierając wyłącznie niezbędne pliki binarne.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Automatyzacja i Rejestr: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Cały proces budowania i testowania obrazów (CI/CD) jest realizowany przez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Gotowe,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otagowane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semantycznie obrazy trafiają do prywatnego rejestru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ECR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Orkiestracja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Amazon EKS)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zarządzania kontenerami na skali produkcyjnej wykorzystuję zarządzany klaster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EKS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Zarządzanie zasobami: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Klaster opiera się na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dedykowanych grupach węzłów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(ogólnego przeznaczenia, zoptymalizowanych pod pamięć RAM oraz pod moc obliczeniową CPU).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Skalowanie: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 reaguje na ruch automatycznie.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HPA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Horizontal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Autoscaler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skaluje aplikacje na podstawie zużycia CPU/RAM oraz – co ważne – na podstawie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lagu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kolejkach Kafka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Gdy brakuje zasobów na poziomie maszyn,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Autoscaler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automatycznie dokłada nowe instancje EC2.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Separacja i Konfiguracja: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Środowiska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production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monitoring,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są odizolowane za pomocą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Namespaces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Do zarządzania wdrożeniami używam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Helm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Charts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wrażliwe dane w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ConfigMaps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są szyfrowane za pomocą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KMS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Zarządzanie Ruchem (Service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Mesh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Istio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 całością komunikacji czuwa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Istio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które zapewnia: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Bezpieczeństwo: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Automatyczny, szyfrowany ruch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mTLS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pomiędzy wszystkimi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mikroserwisami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Niezawodność: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Wbudowane mechanizmy sterowania ruchem, takie jak polityki ponawiania prób (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timeouts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oraz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circuit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breaker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(bezpiecznik odcinający przeciążone usługi).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Wdrożenia: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Możliwość bezpiecznego wdrażania nowych wersji aplikacji metodą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Canary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Wskazówka dla Ciebie: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Jeśli prowadzący zada pytanie szczegółowe (np. 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"Dlaczego akurat Kafka lag w HPA?"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możesz odpowiedzieć, że pozwala to na skalowanie konsumentów zanim system zostanie całkowicie zasypany nieprzetworzonymi wiadomościami, co jest znacznie bardziej reaktywne niż samo mierzenie CPU.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Slajd przedstawia strategię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Balancing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(równoważenia obciążenia) oraz mechanizm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(kontroli stanu zdrowia aplikacji) w ramach infrastruktury projektu.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 krótkie podsumowanie najważniejszych punktów: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Architektura Równoważenia Obciążenia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Balancing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Ruch w systemie jest zarządzany wielopoziomowo, w zależności od warstwy sieciowej: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(CDN) –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CloudFront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Pierwszy punkt styku. Odpowiada za routing geograficzny oraz serwowanie zasobów statycznych z pamięci podręcznej (cache TTL).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L3/L4 (Transport) – AWS NLB: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Służy do niskopoziomowego routingu protokołów TCP/UDP, zapewniając ultra-niskie opóźnienia oraz stały adres publiczny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Elastic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L7 (Application) – AWS ALB: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Działa na warstwie aplikacji. Odpowiada za inteligentny routing na podstawie ścieżek URL (np. 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ws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sesje podtrzymywane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sticky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dla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oraz algorytm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Round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Robin połączony z kontrolą stanu aplikacji.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Wewnętrzny (K8s) –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ClusterIP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Równoważenie ruchu wewnątrz klastra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pomocą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kube-proxy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(opartego na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iptables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Dla usługi 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Service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wykorzystuje algorytm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least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(kierowanie ruchu do najmniej obciążonych kontenerów).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Kontrola Stanu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Zapewnia wysoką dostępność i automatyczne naprawianie błędów w systemie: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Każdy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udostępnia dwa dedykowane punkty końcowe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/live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liveness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czy aplikacja żyje) oraz 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readiness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czy aplikacja jest gotowa przyjmować ruch).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testuje te punkty co 10 sekund.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 przypadku wykrycia awarii,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Balancer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automatycznie i całkowicie odcina ruch od uszkodzonej instancji (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unhealthy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w ciągu maksymalnie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 sekund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Slajd przedstawia kompletną strategię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Monitoringu i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Observability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(obserwowalności) systemu, podzieloną na cztery kluczowe filary: metryki, logi, śledzenie rozproszone oraz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alertowanie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 szczegółowy opis poszczególnych obszarów infrastruktury: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Metryki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Prometheus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Odpowiadają za zbieranie i wizualizację danych o stanie liczbowym infrastruktury i aplikacji: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Zbieranie danych: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Prometheus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wykonuje tzw.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scraping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(odpytywanie) wszystkich serwisów oraz węzłów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(K8s) w regularnych odstępach czasu –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15 sekund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Wizualizacja: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służy do prezentowania zebranych danych na dedykowanych pulpitach nawigacyjnych (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Monitorowane są tam m.in. aktywne połączenia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przepustowość (liczba wiadomości na sekundę), latencja na poziomach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percentyli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P50/P95/P99, zużycie zasobów sprzętowych (CPU/RAM/dysk) oraz opóźnienie na kolejkach Kafka (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 lag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Logi (ELK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Służą do agregacji i analizy tekstowych zapisów zdarzeń z całego systemu: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Wszystkie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generują ustrukturyzowane logi w formacie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 ułatwia ich automatyczne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parsowanie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logów: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Dane przechodzą przez pełen stos technologiczny: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Filebeat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(zbiera logi z kontenerów) $\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rightarrow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Logstash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(odpowiada za ich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parsowanie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transformację) $\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rightarrow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Elasticsearch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(baza danych do wyszukiwania) $\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rightarrow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Kibana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UI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(interfejs graficzny dla programistów i administratorów).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Retencja danych: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 są przechowywane przez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 dni w hot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(szybki dostęp w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Elasticsearch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a następnie przenoszone na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dni do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cold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(AWS S3 Glacier)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 celu optymalizacji kosztów.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Distributed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Tracing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Jaeger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Pozwala na śledzenie drogi, jaką przebywa pojedyncze zapytanie użytkownika przez wiele niezależnych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mikroserwisów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Instrumentacja: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 każdym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mikroserwisie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zaimplementowano biblioteki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SDK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Propagacja kontekstu: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Identyfikatory śledzenia (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są przekazywane pomiędzy usługami w nagłówkach HTTP zgodnie ze standardem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W3C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TraceContext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Wizualizacja: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Narzędzie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Jaeger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pozwala na graficzne odtworzenie całego cyklu życia zapytania, co drastycznie skraca czas diagnozowania tzw. 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wąskich gardeł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bottlenecks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w architekturze rozproszonej.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Alerting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PagerDuty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Alertmanager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wczesnego ostrzegania o awariach i anomaliach: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Zasady: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Reguły alertów są bezpośrednio powiązane z celami biznesowo-technicznymi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Level 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Objectives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Alerty krytyczne: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Sytuacje takie jak naruszenie umów SLA, całkowite padnięcie usługi (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down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lub krytyczny opóźnienie przetwarzania w Kafce (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 lag &gt; 10k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trafiają do systemu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PagerDuty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który natychmiast powiadamia inżyniera pełniącego dyżur (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on-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Alerty ostrzegawcze: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Mniej krytyczne anomalie są wysyłane za pomocą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webhooka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bezpośrednio na odpowiedni kanał komunikatora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Slack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Slajd przedstawia strategię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Backupu i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Disaster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Recovery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(DR)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czyli plany i procedury zabezpieczania danych oraz odzyskiwania systemu po ewentualnej awarii infrastruktury.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Całość została podzielona na trzy kluczowe obszary: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Strategia Backupów (Tabela)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zapewnia zróżnicowane podejście do tworzenia kopii zapasowych w zależności od rodzaju przechowywanych danych: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(Główna baza danych):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Wykorzystuje mechanizm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ciągłego zapisu logów (WAL - Write-Ahead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Logging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oraz pełne backupy wykonywane codziennie. Retencja wynosi 30 dni dla backupów dziennych i rok dla tygodniowych. Realizowane jest to poprzez usługi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RDS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 wysyłką logów WAL do bezpiecznego repozytorium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Elasticsearch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(Logi i wyszukiwanie):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Migawki stanu (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snapshots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są tworzone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godzinę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pomocą natywnego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Snapshot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i zapisywane na AWS S3. Przechowywane są przez 7 dni.</a:t>
            </a:r>
          </a:p>
          <a:p>
            <a:pPr rtl="0"/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S3 (Przechowywanie obiektów):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Zastosowano replikację ciągłą (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typu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Cross-region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(do regionu </a:t>
            </a:r>
            <a:r>
              <a:rPr lang="pl-PL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eu-west-1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a dane przetrzymywane są bezterminowo.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Konfiguracja K8s (Infrastruktura jako kod):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Backup konfiguracji klastra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następuje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przy każdej zmianie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Dzięki podejściu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GitOps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(wykorzystanie narzędzi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Terraform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Helm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historia konfiguracji jest nieograniczona i bezpiecznie przechowywana w repozytorium Git.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Cele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Disaster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Recovery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(RTO &amp; RPO)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Slajd definiuje dwa najważniejsze wskaźniki określające odporność systemu na awarie: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RTO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Recovery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Objective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$&lt; \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{1h (region)}$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Czas potrzebny na pełne przywrócenie działania systemu w przypadku awarii całego regionu AWS wynosi mniej niż godzinę. Jeśli awaria dotyczy pojedynczego serwisu, przywrócenie sprawności zajmuje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mniej niż 5 minut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RPO (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Recovery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Point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Objective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$&lt; \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{5 min}$</a:t>
            </a:r>
            <a:endParaRPr lang="pl-P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Maksymalny akceptowalny czas, z którego dane mogą zostać utracone podczas awarii. Dzięki ciągłemu zapisowi logów wiadomości (WAL), system gwarantuje, że w najgorszym scenariuszu utracone dane nie przekroczą ostatnich 5 minut.</a:t>
            </a:r>
          </a:p>
          <a:p>
            <a:pPr rtl="0"/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Chaos Engineering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Infrastruktura nie jest odporna jedynie "na papierze" – niezawodność systemu jest stale weryfikowana w praktyce: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Prowadzone są regularne, kontrolowane testy odporności za pomocą narzędzi takich jak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Chaos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Monkey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oraz </a:t>
            </a:r>
            <a:r>
              <a:rPr lang="pl-P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Litmus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Chaos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Testy te odbywają się na środowisku testowym (</a:t>
            </a:r>
            <a:r>
              <a:rPr lang="pl-PL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2 tygodnie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na środowisku produkcyjnym </a:t>
            </a:r>
            <a:r>
              <a:rPr lang="pl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 na kwartał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(w godzinach poza szczytem ruchu), aby upewnić się, że procedury automatycznego i ręcznego przywracania systemów działają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bezzarzutnie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Podsumowując, system komunikatora posiada sześć kluczowych cech. Po pierwsze, architektura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mikroserwisowa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umożliwia niezależne skalowanie i wdrażanie komponentów oraz minimalizuje wpływ awarii. Po drugie, hybrydowa komunikacja łączy REST i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gRPC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dla szybkich operacji synchronicznych z Kafką dla eventów asynchronicznych. Po trzecie, odporność na awarie zapewniona jest przez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circuit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breaker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backoffem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graceful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degradation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automatyczny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failover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Po czwarte, świadome kompromisy CAP –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consistency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dla wiadomości w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eventual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consistency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dla statusów i wyszukiwania. Po piąte, infrastruktura jako kod przez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Terraform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Helm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zapewnia powtarzalność i szybkie odtworzenie środowiska. Po szóste, pełna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observability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oparta na metrykach, logach i </a:t>
            </a:r>
            <a:r>
              <a:rPr lang="pl-P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tracingu</a:t>
            </a:r>
            <a:r>
              <a:rPr lang="pl-P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stanowi fundament operacyjny umożliwiający szybką identyfikację problemów. Dziękuję za uwagę.</a:t>
            </a:r>
          </a:p>
          <a:p>
            <a:r>
              <a:rPr lang="pl-PL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28600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KOMUNIKATOR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Aplikacja Webowa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Rozproszony System Komunikacji w Czasie Rzeczywistym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Przedmiot: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Systemy Rozproszone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3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Marzec 2026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3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Wersja: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PREZENTACJI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Spis treści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02920" cy="9601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4904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Analiza Biznesowa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9280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 problemu, użytkownicy, skala, wymagania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417320"/>
            <a:ext cx="502920" cy="9601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1732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4904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Systemu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89280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Komponenty, komunikacja, przepływ danych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60320"/>
            <a:ext cx="502920" cy="9601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6032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6334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Analiza Rozproszenia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03580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Rozproszenie, awarie, skalowanie, CAP, spójność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56032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560320"/>
            <a:ext cx="502920" cy="9601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56032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26334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Infrastruktura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03580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Chmura, kontenery, monitoring, backup &amp; DR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703320"/>
            <a:ext cx="502920" cy="9601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0332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" y="37764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17880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cechy i wnioski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 — ANALIZA BIZNESOWA / 1.1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Opis Problemu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2560320"/>
          </a:xfrm>
          <a:prstGeom prst="rect">
            <a:avLst/>
          </a:prstGeom>
          <a:solidFill>
            <a:srgbClr val="24355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Istniejące narzędzia (Slack, MS Teams, Discord) są kosztowne lub ograniczają kontrolę nad danymi i prywatnością.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2560320"/>
          </a:xfrm>
          <a:prstGeom prst="rect">
            <a:avLst/>
          </a:prstGeom>
          <a:solidFill>
            <a:srgbClr val="24355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37160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Rozwiązanie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Komunikator webowy – platforma w przeglądarce do wymiany wiadomości, plików i rozmów grupowych w kanałach tematycznych.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51760" cy="2560320"/>
          </a:xfrm>
          <a:prstGeom prst="rect">
            <a:avLst/>
          </a:prstGeom>
          <a:solidFill>
            <a:srgbClr val="24355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8745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Wysoka niezawodność, komunikacja w czasie rzeczywistym, pełna kontrola nad danymi, możliwość self-hostingu.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 — ANALIZA BIZNESOWA / 1.1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Użytkownicy Systemu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Sektor Biznesowy i Korporacyjny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MŚP oraz duże przedsiębiorstwa (10–5000 pracowników) – centralny hub informacyjny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Zespoły projektowe i cross-funkcyjne – dedykowane kanały z historią ustaleń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Pracownicy zdalni i hybrydowi – dostęp do zasobów niezależnie od lokalizacji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Sektor Specjalistyczny i Publiczny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Placówki medyczne – koordynacja dyżurów i wewnętrzna komunikacja z zachowaniem poufności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Organizacje pozarządowe (NGO) – mobilizacja wolontariuszy, zarządzanie projektami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Administratorzy systemu – zarządzanie kontami, kanałami i uprawnieniami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Użytkownicy mobilni – korzystanie z systemu przez przeglądarkę na urządzeniach mobilnych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 — ANALIZA BIZNESOWA / 1.1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Skala Systemu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011680" cy="1417320"/>
          </a:xfrm>
          <a:prstGeom prst="rect">
            <a:avLst/>
          </a:prstGeom>
          <a:solidFill>
            <a:srgbClr val="1A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Jednoczesnych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użytkowników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417320"/>
            <a:ext cx="2011680" cy="1417320"/>
          </a:xfrm>
          <a:prstGeom prst="rect">
            <a:avLst/>
          </a:prstGeom>
          <a:solidFill>
            <a:srgbClr val="1A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08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2194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Zarejestrowanych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2011680" cy="1417320"/>
          </a:xfrm>
          <a:prstGeom prst="rect">
            <a:avLst/>
          </a:prstGeom>
          <a:solidFill>
            <a:srgbClr val="1A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508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2194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Wiadomości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dziennie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417320"/>
            <a:ext cx="2011680" cy="1417320"/>
          </a:xfrm>
          <a:prstGeom prst="rect">
            <a:avLst/>
          </a:prstGeom>
          <a:solidFill>
            <a:srgbClr val="1A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508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2194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Kanałów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pokoi czatu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011680" cy="1417320"/>
          </a:xfrm>
          <a:prstGeom prst="rect">
            <a:avLst/>
          </a:prstGeom>
          <a:solidFill>
            <a:srgbClr val="24355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08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 MB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rozmiar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przesyłanego pliku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3017520"/>
            <a:ext cx="2011680" cy="1417320"/>
          </a:xfrm>
          <a:prstGeom prst="rect">
            <a:avLst/>
          </a:prstGeom>
          <a:solidFill>
            <a:srgbClr val="24355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3108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lata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514600" y="3794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Retencja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wiadomości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2011680" cy="1417320"/>
          </a:xfrm>
          <a:prstGeom prst="rect">
            <a:avLst/>
          </a:prstGeom>
          <a:solidFill>
            <a:srgbClr val="24355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108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TB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663440" y="3794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Łączny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rozmiar danych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 — WYMAGANIA FUNKCJONALNE / WF-01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WF-01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6858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Rejestracja i Uwierzytelnianie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Rejestracja z weryfikacją e-mail (link aktywacyjny ważny 24h)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Logowanie hasłem oraz OAuth 2.0 (Google, GitHub)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Polityka bezpieczeństwa haseł + przechowywanie zahashowane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oparte o TOTP z kodami zapasowymi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hasła – jednorazowy link z ograniczonym czasem ważności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Wykrywanie podejrzanych logowań (nowe urządzenie/lokalizacja)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 — WYMAGANIA FUNKCJONALNE / WF-02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WF-02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6858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Wiadomości w Czasie Rzeczywistym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Opóźnienie &lt; 100 ms w obrębie tej samej strefy geograficznej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Gwarancja kolejności wiadomości w kanale i wątku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Synchronizacja brakujących wiadomości po ponownym połączeniu (offline queue)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Potwierdzenia dostarczenia i odczytu (read receipts)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Edycja i usuwanie wiadomości z zachowaniem historii zmian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Mechanizm retry przy błędach sieciowych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 — WYMAGANIA FUNKCJONALNE / WF-03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WF-03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6858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Kanały i Wiadomości Prywatne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kanałów publicznych i prywatnych z zarządzaniem rolami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Kanały do 10 000 użytkowników z obsługą wątków (threads)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Wiadomości prywatne 1:1 oraz grupowe (do 50 osób)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Opuszczanie, wyciszanie i przypinanie kanałów przez użytkownika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Oznaczanie wiadomości jako ważnych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Wzmianki globalne (@channel, @here) z ograniczeniami roli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 — WYMAGANIA FUNKCJONALNE / WF-04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WF-04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6858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Przesyłanie Plików i Mediów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Przesyłanie plików do 500 MB z walidacją i skanowaniem antywirusowym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Podgląd inline dla obrazów, odtwarzanie strumieniowe wideo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Magazyn obiektowy kompatybilny z S3 (MinIO / AWS S3)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 przez podpisane URL-e (TTL 5–60 minut)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Generowanie miniatur i kompresja obrazów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przestrzeni na organizację i polityka retencji plików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 — WYMAGANIA FUNKCJONALNE / WF-05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WF-05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6858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Powiadomienia Push i Statusy Obecności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Powiadomienia o wiadomościach, wzmiankach, odpowiedziach, zaproszeniach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dla aktywnych użytkowników; Web Push API / FCM dla nieaktywnych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użytkownika – brak duplikatów gdy aktywnie przegląda kanał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per kanał: wyciszenie, tylko wzmianki, wszystkie wiadomości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 Do Not Disturb z harmonogramem i mozliwoscia override dla krytycznych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Powiadomienia zbiorcze z interwałem 5 min; statusy obecności w czasie rzeczywistym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 — WYMAGANIA FUNKCJONALNE / WF-06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6858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 Wiadomości i Wyszukiwanie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wiadomości z paginacją i lazy loadingiem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Wyszukiwanie pełnotekstowe treści, załączników (metadata) i użytkowników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odpowiedzi &lt; 2 s dla zbioru do 100 milionów wiadomości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Filtrowanie wyników po dacie, użytkowniku, kanale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Wyszukiwanie w obrębie wątków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Polityka retencji danych konfigurowalna przez administratora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 — WYMAGANIA FUNKCJONALNE / WF-07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WF-07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6858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Zarządzanie Organizacją i Uprawnieniami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Struktura: Organizacja &gt; Przestrzeń robocza &gt; Kanał &gt; Użytkownik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rolami i uprawnieniami (RBAC)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ról, przypisywanie uprawnień, delegowanie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 działań użytkowników w panelu administracyjnym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 aktywności i statystyki użycia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polityk: retencja danych, bezpieczeństwo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 — WYMAGANIA NIEFUNKCJONALNE / 1.3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Wymagania Niefunkcjonalne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23317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Wymaganie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WNF-01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Dostępność (SLA)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 uptime miesięcznie (max 8.7h przestoju/rok)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WNF-02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Wydajność (Latency)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&lt; 200 ms odczyt; P99 &lt; 500 ms zapis; WS &lt; 100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WNF-03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Skalowalność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Pozioma do 50k połączeń WebSocket; auto-scaling CPU/RAM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WNF-04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Bezpieczeństwo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1.3; AES-256 at-rest; OWASP Top 10; audyt dostępu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WNF-05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Spójność danych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Eventual consistency dla statusów; strong consistency dla wiadomości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WNF-06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Obsługa awarii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 &lt; 1 min; RPO &lt; 5 min; circuit breaker 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WNF-07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Obserwowalność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logging; distributed tracing (OpenTelemetry); Prometheus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WNF-08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Zgodność z RODO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Prawo do usunięcia danych; eksport; retencja logów zgodna z RODO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II — ARCHITEKTURA SYSTEMU / 2.1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Systemu</a:t>
            </a:r>
            <a:endParaRPr lang="en-US" sz="2800" dirty="0"/>
          </a:p>
        </p:txBody>
      </p:sp>
      <p:pic>
        <p:nvPicPr>
          <p:cNvPr id="29" name="Obraz 28">
            <a:extLst>
              <a:ext uri="{FF2B5EF4-FFF2-40B4-BE49-F238E27FC236}">
                <a16:creationId xmlns:a16="http://schemas.microsoft.com/office/drawing/2014/main" id="{909CB3B2-4600-5D5B-55BD-AE3041D68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028" y="867272"/>
            <a:ext cx="4139212" cy="40933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A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7329D-F5DF-89C0-B8CC-59567474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FE33A5-1E11-B704-1A1C-BC8C400E2534}"/>
              </a:ext>
            </a:extLst>
          </p:cNvPr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309F66-6998-1E38-CE08-0552FCB1735C}"/>
              </a:ext>
            </a:extLst>
          </p:cNvPr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II — ARCHITEKTURA SYSTEMU / 2.1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2DC803-4F49-6C88-961C-AFA44B9806EA}"/>
              </a:ext>
            </a:extLst>
          </p:cNvPr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Mikroserwisowa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DB87EC3-F5FB-8366-F4FE-BFA84100934F}"/>
              </a:ext>
            </a:extLst>
          </p:cNvPr>
          <p:cNvSpPr/>
          <p:nvPr/>
        </p:nvSpPr>
        <p:spPr>
          <a:xfrm>
            <a:off x="365760" y="1371600"/>
            <a:ext cx="1828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922FC8-F795-5ECF-6DFA-E01FCD997443}"/>
              </a:ext>
            </a:extLst>
          </p:cNvPr>
          <p:cNvSpPr/>
          <p:nvPr/>
        </p:nvSpPr>
        <p:spPr>
          <a:xfrm>
            <a:off x="36576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Klientów</a:t>
            </a:r>
            <a:endParaRPr lang="en-US" sz="1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9621F5F-8A3D-7281-D95E-6440668391C9}"/>
              </a:ext>
            </a:extLst>
          </p:cNvPr>
          <p:cNvSpPr/>
          <p:nvPr/>
        </p:nvSpPr>
        <p:spPr>
          <a:xfrm>
            <a:off x="2331720" y="1371600"/>
            <a:ext cx="6492240" cy="50292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710E6A3-E04F-2141-55EE-D1596350E892}"/>
              </a:ext>
            </a:extLst>
          </p:cNvPr>
          <p:cNvSpPr/>
          <p:nvPr/>
        </p:nvSpPr>
        <p:spPr>
          <a:xfrm>
            <a:off x="2423160" y="137160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/ PWA (przeglądarka, mobile) | Klienci API (boty, integracje)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5D5A5E7-12C1-7326-C807-67E20AF732BD}"/>
              </a:ext>
            </a:extLst>
          </p:cNvPr>
          <p:cNvSpPr/>
          <p:nvPr/>
        </p:nvSpPr>
        <p:spPr>
          <a:xfrm>
            <a:off x="365760" y="1965960"/>
            <a:ext cx="1828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3E1DC1-3AA1-C019-6BDC-01032285FA91}"/>
              </a:ext>
            </a:extLst>
          </p:cNvPr>
          <p:cNvSpPr/>
          <p:nvPr/>
        </p:nvSpPr>
        <p:spPr>
          <a:xfrm>
            <a:off x="36576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Edge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C4BFD2B-33D3-8358-1BBA-459316972913}"/>
              </a:ext>
            </a:extLst>
          </p:cNvPr>
          <p:cNvSpPr/>
          <p:nvPr/>
        </p:nvSpPr>
        <p:spPr>
          <a:xfrm>
            <a:off x="2331720" y="1965960"/>
            <a:ext cx="6492240" cy="50292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48E5972-E720-DA30-4238-4DC9FC8E4758}"/>
              </a:ext>
            </a:extLst>
          </p:cNvPr>
          <p:cNvSpPr/>
          <p:nvPr/>
        </p:nvSpPr>
        <p:spPr>
          <a:xfrm>
            <a:off x="2423160" y="19659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(CloudFront) | API Gateway (Kong/NGINX) | Load Balancer (ALB) | WAF + TLS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CC8C273-DC3E-03E3-70BF-DD0674D7E4DB}"/>
              </a:ext>
            </a:extLst>
          </p:cNvPr>
          <p:cNvSpPr/>
          <p:nvPr/>
        </p:nvSpPr>
        <p:spPr>
          <a:xfrm>
            <a:off x="365760" y="2560320"/>
            <a:ext cx="1828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FDFB8D3-D2F9-8794-6257-D579821C2556}"/>
              </a:ext>
            </a:extLst>
          </p:cNvPr>
          <p:cNvSpPr/>
          <p:nvPr/>
        </p:nvSpPr>
        <p:spPr>
          <a:xfrm>
            <a:off x="365760" y="2560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Mikroserwisy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331D92E-CB90-8B3B-53D3-84C8FA2863A4}"/>
              </a:ext>
            </a:extLst>
          </p:cNvPr>
          <p:cNvSpPr/>
          <p:nvPr/>
        </p:nvSpPr>
        <p:spPr>
          <a:xfrm>
            <a:off x="2331720" y="2560320"/>
            <a:ext cx="6492240" cy="50292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386726C-B9FF-7053-3C3D-B79B34E84D25}"/>
              </a:ext>
            </a:extLst>
          </p:cNvPr>
          <p:cNvSpPr/>
          <p:nvPr/>
        </p:nvSpPr>
        <p:spPr>
          <a:xfrm>
            <a:off x="2423160" y="256032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| Message | WebSocket | Notification | File | User/Profile | Search | Media Worker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3B519C5-1B70-D5FA-F0D2-F1DB57693AC9}"/>
              </a:ext>
            </a:extLst>
          </p:cNvPr>
          <p:cNvSpPr/>
          <p:nvPr/>
        </p:nvSpPr>
        <p:spPr>
          <a:xfrm>
            <a:off x="365760" y="3154680"/>
            <a:ext cx="1828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7B37971-3A2E-2676-5B76-877B608EC119}"/>
              </a:ext>
            </a:extLst>
          </p:cNvPr>
          <p:cNvSpPr/>
          <p:nvPr/>
        </p:nvSpPr>
        <p:spPr>
          <a:xfrm>
            <a:off x="365760" y="3154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Messaging (Async)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2672446-2B7C-BEC1-474A-0621288FABB8}"/>
              </a:ext>
            </a:extLst>
          </p:cNvPr>
          <p:cNvSpPr/>
          <p:nvPr/>
        </p:nvSpPr>
        <p:spPr>
          <a:xfrm>
            <a:off x="2331720" y="3154680"/>
            <a:ext cx="6492240" cy="50292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4B8E857-6912-77A5-5A73-C341B677728C}"/>
              </a:ext>
            </a:extLst>
          </p:cNvPr>
          <p:cNvSpPr/>
          <p:nvPr/>
        </p:nvSpPr>
        <p:spPr>
          <a:xfrm>
            <a:off x="2423160" y="315468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– event bus do komunikacji asynchronicznej między serwisami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3AD4396-3C34-5589-7EDA-2C6E89226BE9}"/>
              </a:ext>
            </a:extLst>
          </p:cNvPr>
          <p:cNvSpPr/>
          <p:nvPr/>
        </p:nvSpPr>
        <p:spPr>
          <a:xfrm>
            <a:off x="365760" y="3749040"/>
            <a:ext cx="1828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49699F3-63A6-41FE-53F0-CD9F0F975F77}"/>
              </a:ext>
            </a:extLst>
          </p:cNvPr>
          <p:cNvSpPr/>
          <p:nvPr/>
        </p:nvSpPr>
        <p:spPr>
          <a:xfrm>
            <a:off x="365760" y="3749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Danych</a:t>
            </a: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B21E7AF-81E5-426E-629A-694F9A3E92A9}"/>
              </a:ext>
            </a:extLst>
          </p:cNvPr>
          <p:cNvSpPr/>
          <p:nvPr/>
        </p:nvSpPr>
        <p:spPr>
          <a:xfrm>
            <a:off x="2331720" y="3749040"/>
            <a:ext cx="6492240" cy="50292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47D10EB-E7F1-010F-DCE7-1CB46A0272B4}"/>
              </a:ext>
            </a:extLst>
          </p:cNvPr>
          <p:cNvSpPr/>
          <p:nvPr/>
        </p:nvSpPr>
        <p:spPr>
          <a:xfrm>
            <a:off x="2423160" y="37490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| Redis Cluster | Elasticsearch | MinIO / AWS S3 | PgBouncer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8ECFDF7-92F0-BF54-DAF4-A40CAE411073}"/>
              </a:ext>
            </a:extLst>
          </p:cNvPr>
          <p:cNvSpPr/>
          <p:nvPr/>
        </p:nvSpPr>
        <p:spPr>
          <a:xfrm>
            <a:off x="365760" y="4343400"/>
            <a:ext cx="1828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9EACE16-0EA3-772B-B7BB-A7BE90440D6C}"/>
              </a:ext>
            </a:extLst>
          </p:cNvPr>
          <p:cNvSpPr/>
          <p:nvPr/>
        </p:nvSpPr>
        <p:spPr>
          <a:xfrm>
            <a:off x="365760" y="4343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04F1597-558F-995F-9BF1-DB7EBBAAAE29}"/>
              </a:ext>
            </a:extLst>
          </p:cNvPr>
          <p:cNvSpPr/>
          <p:nvPr/>
        </p:nvSpPr>
        <p:spPr>
          <a:xfrm>
            <a:off x="2331720" y="4343400"/>
            <a:ext cx="6492240" cy="50292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6D449DE-18BA-27B5-AE8E-ABBC137A863F}"/>
              </a:ext>
            </a:extLst>
          </p:cNvPr>
          <p:cNvSpPr/>
          <p:nvPr/>
        </p:nvSpPr>
        <p:spPr>
          <a:xfrm>
            <a:off x="2423160" y="434340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| ELK Stack | OpenTelemetry + Jaeger | PagerDuty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1906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II — ARCHITEKTURA SYSTEMU / 2.1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Mikroserwisów – Opis Komponentów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Rejestracja, logowanie, sesje JWT, tokeny odświeżania, OAuth 2.0. Baza: PostgreSQL (auth-db).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1480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 Service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7190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Persystencja i pobieranie wiadomości, zarządzanie kanałami. Baza: PostgreSQL + Redis (hot cache).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11480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31720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WebSocket Service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6791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połączeniami WS, fan-out do subskrybentów. Komunikacja przez Kafka. Skalowany poziomo.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11480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331720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 Service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6791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Nasłuchuje na topicach Kafka, rozsyła push (Web Push API, FCM). Zarządza preferencjami.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411480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291840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Service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Upload/download plików, storage S3-compatible, pre-signed URL (TTL 1h), async generowanie miniatur.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411480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291840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Service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6393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Indeksowanie wiadomości w Elasticsearch. Zapytania pełnotekstowe. Aktualizacja przez Kafka consumer.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0" y="4251960"/>
            <a:ext cx="411480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4251960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User/Profile Service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4599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użytkowników, statusy obecności (Redis TTL), listy kontaktów.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II — ARCHITEKTURA SYSTEMU / 2.1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Warstwa Danych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38404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8288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Read Replicas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Wiadomości, konta, kanały, uprawnienia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Opcjonalny sharding po workspace_id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371600"/>
            <a:ext cx="26517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71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Cluster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8288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Tokeny sesji, statusy obecności (TTL 30s)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data (ostatnie wiadomości kanałów)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counters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65176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371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 Kafka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4768" y="18288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wiadomości (async)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messages.created, files.uploaded,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presence.updated, notifications.push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63240"/>
            <a:ext cx="2651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63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Elasticsearch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pełnotekstowy dla wiadomości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Replikacja na 3 węzły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3063240"/>
            <a:ext cx="26517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063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MinIO / AWS S3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Pliki użytkowników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Replikacja cross-region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II — KOMUNIKACJA / 2.2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Komunikacja Synchroniczna (HTTP/REST, gRPC)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19202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Nadawca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Odbiorca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Protokół / Dane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Klient (przeglądarka)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HTTPS/REST – żądania HTTP, JSON payload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– weryfikacja tokenów JWT, dane sesji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HTTP/REST – CRUD wiadomości,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HTTP/REST – upload/download plików, multipart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Klient (przeglądarka)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WSS (WebSocket Secure) – wiadomości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Serwisy wewnętrzne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– dane profilu, walidacja uprawnień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II — KOMUNIKACJA / 2.2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Komunikacja Asynchroniczna (Apache Kafka)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1798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Kafka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messages.created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WebSocket, Search, Notification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Nowa wiadomość – dystrybucja do odbiorców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files.uploaded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Service (thumbnail worker)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Generowanie miniatur, skanowanie antywirusowe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presence.updated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Service, WebSocket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 statusu obecności użytkownika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notifications.push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Service (push worker)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notifications dla offline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Przepływ wysyłania wiadomości: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3657600"/>
            <a:ext cx="8412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Użytkownik wysyła wiadomość przez WebSocket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WS Service waliduje JWT (gRPC → Auth Service)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Wiadomość zapisana w PostgreSQL (Message Service)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Zdarzenie publikowane do Kafka topic messages.created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Fan-out do klientów przez Redis Pub/Sub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Search &amp; Notification Service konsumują event asynchronicznie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III — ANALIZA ROZPROSZENIA /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Miejsca Rozproszenia Systemu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5603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WebSocket Service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371600"/>
            <a:ext cx="5760720" cy="43891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37160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Wiele instancji; Redis Pub/Sub do synchronizacji stanów między instancjami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25603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928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 Service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1892808"/>
            <a:ext cx="5760720" cy="43891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892808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pozioma replikacja; PostgreSQL z read replikami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25603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1401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63240" y="2414016"/>
            <a:ext cx="5760720" cy="43891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414016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primary + 2+ read replicas; opcjonalny sharding po workspace_id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35224"/>
            <a:ext cx="25603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3522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63240" y="2935224"/>
            <a:ext cx="5760720" cy="43891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935224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 (3 master + 3 replica); sharding danych po kluczu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25603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564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 Kafka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63240" y="3456432"/>
            <a:ext cx="5760720" cy="43891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3456432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 3 brokerów; replikacja partycji (replication factor =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977640"/>
            <a:ext cx="25603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776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Elasticsearch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63240" y="3977640"/>
            <a:ext cx="5760720" cy="43891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97764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 3 węzłów; 1 primary + 1 replica per shard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498848"/>
            <a:ext cx="25603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49884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CDN / Edge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63240" y="4498848"/>
            <a:ext cx="5760720" cy="43891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4498848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Geograficznie rozproszone węzły PoP obsługujące statyczne zasoby</a:t>
            </a:r>
            <a:endParaRPr lang="en-US" sz="1100" dirty="0"/>
          </a:p>
        </p:txBody>
      </p:sp>
      <p:pic>
        <p:nvPicPr>
          <p:cNvPr id="33" name="Obraz 32">
            <a:extLst>
              <a:ext uri="{FF2B5EF4-FFF2-40B4-BE49-F238E27FC236}">
                <a16:creationId xmlns:a16="http://schemas.microsoft.com/office/drawing/2014/main" id="{F02FE860-B82B-2EF7-553E-BB92B46C7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88"/>
            <a:ext cx="9144000" cy="51669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III — ANALIZA ROZPROSZENIA / 3.2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Obsługa Częściowych Awarii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 Breaker Pattern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 w każdym mikroserwisie (Resilience4j / Hystrix). Po 5 błędach w 10 sekundach przejście w stan OPEN → fallback response bez obciążania uszkodzonego serwisu.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325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Retry z Exponential Backoff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Żądania powtarzane z wykładniczym opóźnieniem: 100 ms → 200 ms → 400 ms (max 3 próby) dla błędów przejściowych (5xx, timeout).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Degradation – Scenariusze Awarii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35808"/>
          <a:ext cx="8412480" cy="15087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Efekt na użytkownika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Mechanizm obsługi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niedostępny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Wolniejsze odpowiedzi, brak statusów 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do PostgreSQL; statusy jako 'unknown'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broker down (1/3)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wpływu – Kafka replikuje partycje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leader election; producent do innego brokera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primary 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Tymczasowy brak zapisu (sekundy)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Failover do read replica; RTO &lt; 30s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Service 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Wyszukiwanie niedostępne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breaker; UI informuje użytkownika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instance 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Rozłączenie klientów tej instancji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Auto-reconnect; LB usuwa unhealthy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III — ANALIZA ROZPROSZENIA / 3.3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522997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Strategia Skalowania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4420"/>
            <a:ext cx="4114800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442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201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Skalowanie Poziome (Bezstanowe Serwisy)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6761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Serwisy Auth, Message, File, Notification, Search skalowane poziomo. Kubernetes HPA automatycznie dodaje/usuwa repliki przy CPU &gt; 70% lub wzroście Kafka lag.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74420"/>
            <a:ext cx="4114800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74420"/>
            <a:ext cx="73152" cy="12344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201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Skalowanie WebSocket Service (Stanowy)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46761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sessions na LB (cookie/IP hash) + Redis Pub/Sub do fan-out między instancjami. Max 10 000 połączeń WebSocket na instancję.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91740"/>
            <a:ext cx="4114800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91740"/>
            <a:ext cx="73152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374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Skalowanie PostgreSQL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88493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 obsługują odczyty (historia, profile). Primary tylko zapis. Opcjonalny sharding po workspace_id.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91740"/>
            <a:ext cx="4114800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49174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5374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Skalowanie Redis Cluster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88493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Automatyczny resharding przy dodaniu węzłów. Dane partycjonowane po kluczu hasha.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0" y="3909060"/>
            <a:ext cx="4114800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390906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9547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Skalowanie Apache Kafka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30225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Partycjonowanie topicóv pozwala na równoległe przetwarzanie. Liczba partycji = maks. liczba równoległych konsumentów.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III — ANALIZA ROZPROSZENIA / 3.4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Twierdzenie CAP – Kompromisy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8412480" cy="2103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Uzasadnienie decyzji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(wiadomości)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Spójność wiadomości krytyczna. Akceptujemy krótkotrwałą niedostępność zapisu podczas failover.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(statusy, cache)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Statusy mogą być chwilowo nieaktualne (eventual consistency). Dostępność systemu ważniejsza.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(broker)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+ wysoka dostęp.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acks=all: potwierdzenie od wszystkich replik gwarantuje at-least-once delivery.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Wyszukiwanie może zwracać lekko stare wyniki (indeksowanie async). Dostępność &gt; spójność indeksu.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401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Spójności Danych: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3703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Consistency – Wiadomości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87705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z monotonicznie rosnącym sequence_number w kanale. Read-your-writes consistency przez routing sesji.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0" y="3739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Eventual Consistency – Statusy i Wyszukiwanie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0" y="387705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Statusy obecności (Redis) z opóźnieniem do 30s. Elasticsearch aktualizowany przez Kafka consumer z opóźnieniem 1–5s.</a:t>
            </a:r>
            <a:endParaRPr lang="en-US" sz="11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C60B868-4D0C-3A21-4EAC-1529A7F84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515019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III — ANALIZA ROZPROSZENIA / 3.5 &amp; 3.6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Potencjalne Bottlenecki &amp; Replikacja Danych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Bottlenecki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64208"/>
          <a:ext cx="8412480" cy="1295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Bottleneck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Fan-out wiadomości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Kanał 10k członków – wiadomość do 10k 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Pub/Sub + partycjonowanie kanałów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Primary zapis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Wszystkie zapisy do jednego primary 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PgBouncer; sharding; CQRS 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połączenia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file descriptors i pamięci na instancję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10k conn/instancja; auto-scaling HPA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indeksowanie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Wysoki throughput spowalnia wyszukiwanie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indexing; refresh interval 5s; ingest nodes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337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Replikacja Danych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3685032"/>
            <a:ext cx="14630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685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20240" y="36850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Replication (WAL-based); 1 primary + 2 sync standby + N async replicas; Patroni/pgPool-II failover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4005072"/>
            <a:ext cx="14630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0050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Cluster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920240" y="40050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master + 3 slave replicas; auto-failover &lt; 10s; 16384 hashslots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4325112"/>
            <a:ext cx="14630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3251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920240" y="43251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factor = 3; min.insync.replicas = 2; at-least-once delivery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645152"/>
            <a:ext cx="14630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645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/ MinIO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920240" y="46451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replication async; RTO dla plików &lt; 15 min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IV — INFRASTRUKTURA / 4.1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Środowisko Wdrożenia (AWS Multi-AZ)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286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Produkcja (Primary)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1417320"/>
            <a:ext cx="603504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417320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eu-central-1 (Frankfurt), 3 Availability Zones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228600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028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 (Disaster Recovery)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2240280"/>
            <a:ext cx="603504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240280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eu-west-1 (Irlandia), active-passive setup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2286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632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88920" y="3063240"/>
            <a:ext cx="603504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3063240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eu-central-1, single AZ, 50% capacity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2286000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862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88920" y="3886200"/>
            <a:ext cx="603504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3886200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lokalnie / AWS dev account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AWS umożliwia elastyczne skalowanie, managed services (RDS, ElastiCache, MSK, OpenSearch) i globalną sieć CDN (CloudFront).</a:t>
            </a:r>
            <a:endParaRPr lang="en-US" sz="1200" dirty="0"/>
          </a:p>
        </p:txBody>
      </p:sp>
      <p:pic>
        <p:nvPicPr>
          <p:cNvPr id="22" name="Obraz 21">
            <a:extLst>
              <a:ext uri="{FF2B5EF4-FFF2-40B4-BE49-F238E27FC236}">
                <a16:creationId xmlns:a16="http://schemas.microsoft.com/office/drawing/2014/main" id="{12FDD103-72C3-700F-D942-CBC861846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02"/>
            <a:ext cx="9144000" cy="513139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IV — INFRASTRUKTURA / 4.2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Konteneryzacja i Orkiestracja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874520"/>
            <a:ext cx="24231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mikroserwis jako obraz Docker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dla minimalnego rozmiaru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Actions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Rejestr: Amazon ECR (tagowanie semantyczne)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37160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(Amazon EKS)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874520"/>
            <a:ext cx="24231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Node Groups (general, memory, compute)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Namespaces: production, staging, monitoring, infra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HPA: auto-scaling CPU/RAM + Kafka lag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Autoscaler: dodawanie/usuwanie EC2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Charts: powtarzalne deploymenty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&amp; Secrets (szyfrowane AWS KMS)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Mesh – Istio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4768" y="1874520"/>
            <a:ext cx="24231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Automatyczne mTLS między serwisami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metryki i tracing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management: retry, timeout, circuit breaker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deployments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IV — INFRASTRUKTURA / 4.3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Balancing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841248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Konfiguracja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L3/L4 (Transport)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Network Load Balancer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TCP/UDP dla niskich opóźnień; elastic IP dla stałego adresu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L7 (Application)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Application Load Balancer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 + health checks; path-based routing (/api/*, /ws/*); sticky sessions 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Wewnętrzny (K8s)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Service (ClusterIP)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kube-proxy iptables-based; least connections dla Message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(CDN)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CloudFront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routing; cache TTL dla statycznych zasobów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Checks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3721608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serwis wystawia /health/live (liveness) i /health/ready (readiness). Kubernetes testuje co 10 sekund. Load Balancer usuwa unhealthy instancje w ciągu 30 sekund.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IV — INFRASTRUKTURA / 4.4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i Observability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Metryki – Prometheus + Grafana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81051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co 15s ze wszystkich serwisów i węzłów K8s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Dashboardy: aktywne połączenia WS, throughput (msg/s), latencja P50/P95/P99, CPU/RAM/disk, Kafka lag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411480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 – ELK Stack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81051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 strukturalne JSON z każdego serwisu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Filebeat → Logstash (parsowanie) → Elasticsearch → Kibana UI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Retencja: 30 dni hot storage, 90 dni cold (S3 Glacier)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17520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17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Distributed Tracing – OpenTelemetry + Jaeger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45643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SDK we wszystkich mikroserwisach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Propagacja trace context przez HTTP headers (W3C TraceContext)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Jaeger: wizualizacja śladów przez wiele serwisów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017520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17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Alerting – PagerDuty + Alertmanager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345643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Reguły alertów oparte na SLO (Service Level Objectives)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Alerty krytyczne (SLA breach, service down, Kafka lag &gt; 10k) → PagerDuty on-call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Alerty ostrzegawcze → Slack webhook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CZĘŚĆ IV — INFRASTRUKTURA / 4.5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i Disaster Recovery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Strategia Backupów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64208"/>
          <a:ext cx="8412480" cy="1295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Częstotliwość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Retencja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Ciągłe (WAL) + pełne dziennie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dni daily, 1 rok weekly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RDS + WAL do 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godzinę (snapshots)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API do 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MinIO / 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(replikacja)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Bezterminowo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Cross-region (eu-west-1)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Konfiguracja K8s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 każdej zmianie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Nieograniczona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(Terraform, Helm)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Disaster Recovery Plan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3630168"/>
            <a:ext cx="2286000" cy="1280160"/>
          </a:xfrm>
          <a:prstGeom prst="rect">
            <a:avLst/>
          </a:prstGeom>
          <a:solidFill>
            <a:srgbClr val="1A2A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630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1h (region)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65760" y="44988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 (serwis)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26080" y="3630168"/>
            <a:ext cx="2286000" cy="1280160"/>
          </a:xfrm>
          <a:prstGeom prst="rect">
            <a:avLst/>
          </a:prstGeom>
          <a:solidFill>
            <a:srgbClr val="1A2A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0" y="3630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92608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5 min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926080" y="44988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wiadomości (WAL)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3630168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Engineering: regularne testy (Chaos Monkey / Litmus Chaos) – staging co 2 tygodnie, produkcja co kwartał (poza szczytem).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 Systemu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1051560"/>
          </a:xfrm>
          <a:prstGeom prst="rect">
            <a:avLst/>
          </a:prstGeom>
          <a:solidFill>
            <a:srgbClr val="24355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mikroserwisowa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Niezależne skalowanie i wdrażanie komponentów; minimalizacja wpływu awarii.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114800" cy="1051560"/>
          </a:xfrm>
          <a:prstGeom prst="rect">
            <a:avLst/>
          </a:prstGeom>
          <a:solidFill>
            <a:srgbClr val="24355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Hybrydowa komunikacja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874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REST/gRPC (sync) dla szybkich operacji + Kafka (async) dla eventów i powiadomień.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114800" cy="1051560"/>
          </a:xfrm>
          <a:prstGeom prst="rect">
            <a:avLst/>
          </a:prstGeom>
          <a:solidFill>
            <a:srgbClr val="24355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Odporność na awarie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1089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breaker, retry z backoff, graceful degradation, automatyczny failover.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651760"/>
            <a:ext cx="4114800" cy="1051560"/>
          </a:xfrm>
          <a:prstGeom prst="rect">
            <a:avLst/>
          </a:prstGeom>
          <a:solidFill>
            <a:srgbClr val="24355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Świadome kompromisy CAP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1089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consistency dla wiadomości (PostgreSQL); eventual consistency dla statusów i wyszukiwania.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4114800" cy="1051560"/>
          </a:xfrm>
          <a:prstGeom prst="rect">
            <a:avLst/>
          </a:prstGeom>
          <a:solidFill>
            <a:srgbClr val="24355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Infrastruktura jako kod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3434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Helm zapewniają powtarzalność i szybkie odtworzenie środowiska.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886200"/>
            <a:ext cx="4114800" cy="1051560"/>
          </a:xfrm>
          <a:prstGeom prst="rect">
            <a:avLst/>
          </a:prstGeom>
          <a:solidFill>
            <a:srgbClr val="24355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Pełna Observability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43434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Metryki, logi i tracing jako fundament operacyjny; szybka identyfikacja problemów.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10291</Words>
  <Application>Microsoft Macintosh PowerPoint</Application>
  <PresentationFormat>Pokaz na ekranie (16:9)</PresentationFormat>
  <Paragraphs>789</Paragraphs>
  <Slides>30</Slides>
  <Notes>30</Notes>
  <HiddenSlides>5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4" baseType="lpstr">
      <vt:lpstr>Arial</vt:lpstr>
      <vt:lpstr>Calibri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Komunikator – Aplikacja Webowa</dc:title>
  <dc:subject>PptxGenJS Presentation</dc:subject>
  <dc:creator>PptxGenJS</dc:creator>
  <cp:lastModifiedBy>Kacper Kwiatkowski</cp:lastModifiedBy>
  <cp:revision>5</cp:revision>
  <dcterms:created xsi:type="dcterms:W3CDTF">2026-05-06T09:24:05Z</dcterms:created>
  <dcterms:modified xsi:type="dcterms:W3CDTF">2026-05-27T14:08:07Z</dcterms:modified>
</cp:coreProperties>
</file>